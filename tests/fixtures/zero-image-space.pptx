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description: Lunar south pole habitat and lander base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12B"/>
        </a:solidFill>
      </p:bgPr>
    </p:bg>
    <p:spTree>
      <p:nvGrpSpPr>
        <p:cNvPr id="1" name=""/>
        <p:cNvGrpSpPr/>
        <p:nvPr/>
      </p:nvGrpSpPr>
      <p:grpSpPr>
        <a:xfrm>
          <a:off x="0" y="0"/>
          <a:ext cx="0" cy="0"/>
          <a:chOff x="0" y="0"/>
          <a:chExt cx="0" cy="0"/>
        </a:xfrm>
      </p:grpSpPr>
      <p:sp>
        <p:nvSpPr>
          <p:cNvPr id="2" name="Text 0"/>
          <p:cNvSpPr/>
          <p:nvPr/>
        </p:nvSpPr>
        <p:spPr>
          <a:xfrm>
            <a:off x="11167872" y="6446520"/>
            <a:ext cx="365760" cy="228600"/>
          </a:xfrm>
          <a:prstGeom prst="rect">
            <a:avLst/>
          </a:prstGeom>
          <a:noFill/>
          <a:ln/>
        </p:spPr>
        <p:txBody>
          <a:bodyPr wrap="square" lIns="0" tIns="0" rIns="0" bIns="0" rtlCol="0" anchor="t"/>
          <a:lstStyle/>
          <a:p>
            <a:pPr algn="r" indent="0" marL="0">
              <a:buNone/>
            </a:pPr>
            <a:r>
              <a:rPr lang="en-US" sz="1200" dirty="0">
                <a:solidFill>
                  <a:srgbClr val="65717D"/>
                </a:solidFill>
                <a:latin typeface="Arial" pitchFamily="34" charset="0"/>
                <a:ea typeface="Arial" pitchFamily="34" charset="-122"/>
                <a:cs typeface="Arial" pitchFamily="34" charset="-120"/>
              </a:rPr>
              <a:t>1</a:t>
            </a:r>
            <a:endParaRPr lang="en-US" sz="1200" dirty="0"/>
          </a:p>
        </p:txBody>
      </p:sp>
      <p:sp>
        <p:nvSpPr>
          <p:cNvPr id="3" name="Text 1"/>
          <p:cNvSpPr/>
          <p:nvPr/>
        </p:nvSpPr>
        <p:spPr>
          <a:xfrm>
            <a:off x="658368" y="1143000"/>
            <a:ext cx="10555224" cy="2286000"/>
          </a:xfrm>
          <a:prstGeom prst="rect">
            <a:avLst/>
          </a:prstGeom>
          <a:noFill/>
          <a:ln/>
        </p:spPr>
        <p:txBody>
          <a:bodyPr wrap="square" lIns="0" tIns="0" rIns="0" bIns="0" rtlCol="0" anchor="t"/>
          <a:lstStyle/>
          <a:p>
            <a:pPr indent="0" marL="0">
              <a:buNone/>
            </a:pPr>
            <a:r>
              <a:rPr lang="en-US" sz="4400" b="1" dirty="0">
                <a:solidFill>
                  <a:srgbClr val="F7F4ED"/>
                </a:solidFill>
                <a:latin typeface="Georgia" pitchFamily="34" charset="0"/>
                <a:ea typeface="Georgia" pitchFamily="34" charset="-122"/>
                <a:cs typeface="Georgia" pitchFamily="34" charset="-120"/>
              </a:rPr>
              <a:t>The Future of Space Exploration: From Earth to Mars</a:t>
            </a:r>
            <a:endParaRPr lang="en-US" sz="4400" dirty="0"/>
          </a:p>
        </p:txBody>
      </p:sp>
      <p:sp>
        <p:nvSpPr>
          <p:cNvPr id="4" name="Text 2"/>
          <p:cNvSpPr/>
          <p:nvPr/>
        </p:nvSpPr>
        <p:spPr>
          <a:xfrm>
            <a:off x="658368" y="3822192"/>
            <a:ext cx="9960864" cy="1005840"/>
          </a:xfrm>
          <a:prstGeom prst="rect">
            <a:avLst/>
          </a:prstGeom>
          <a:noFill/>
          <a:ln/>
        </p:spPr>
        <p:txBody>
          <a:bodyPr wrap="square" lIns="0" tIns="0" rIns="0" bIns="0" rtlCol="0" anchor="t"/>
          <a:lstStyle/>
          <a:p>
            <a:pPr indent="0" marL="0">
              <a:buNone/>
            </a:pPr>
            <a:r>
              <a:rPr lang="en-US" sz="2500" dirty="0">
                <a:solidFill>
                  <a:srgbClr val="EEEAE1"/>
                </a:solidFill>
                <a:latin typeface="Arial" pitchFamily="34" charset="0"/>
                <a:ea typeface="Arial" pitchFamily="34" charset="-122"/>
                <a:cs typeface="Arial" pitchFamily="34" charset="-120"/>
              </a:rPr>
              <a:t>Humanity's Journey from Low Earth Orbit to Interplanetary Expansion</a:t>
            </a:r>
            <a:endParaRPr lang="en-US" sz="2500" dirty="0"/>
          </a:p>
        </p:txBody>
      </p:sp>
      <p:sp>
        <p:nvSpPr>
          <p:cNvPr id="5" name="Text 3"/>
          <p:cNvSpPr/>
          <p:nvPr/>
        </p:nvSpPr>
        <p:spPr>
          <a:xfrm>
            <a:off x="658368" y="5303520"/>
            <a:ext cx="9960864" cy="822960"/>
          </a:xfrm>
          <a:prstGeom prst="rect">
            <a:avLst/>
          </a:prstGeom>
          <a:noFill/>
          <a:ln/>
        </p:spPr>
        <p:txBody>
          <a:bodyPr wrap="square" lIns="0" tIns="0" rIns="0" bIns="0" rtlCol="0" anchor="t"/>
          <a:lstStyle/>
          <a:p>
            <a:pPr indent="0" marL="0">
              <a:buNone/>
            </a:pPr>
            <a:r>
              <a:rPr lang="en-US" sz="2000" dirty="0">
                <a:solidFill>
                  <a:srgbClr val="EEEAE1"/>
                </a:solidFill>
                <a:latin typeface="Arial" pitchFamily="34" charset="0"/>
                <a:ea typeface="Arial" pitchFamily="34" charset="-122"/>
                <a:cs typeface="Arial" pitchFamily="34" charset="-120"/>
              </a:rPr>
              <a:t>A scientific overview charting historical milestones, reusable launch architectures, and technical pathways to human Mars exploration.</a:t>
            </a:r>
            <a:endParaRPr lang="en-US" sz="2000" dirty="0"/>
          </a:p>
        </p:txBody>
      </p:sp>
      <p:sp>
        <p:nvSpPr>
          <p:cNvPr id="6" name="Shape 4"/>
          <p:cNvSpPr/>
          <p:nvPr/>
        </p:nvSpPr>
        <p:spPr>
          <a:xfrm>
            <a:off x="11122152" y="6400800"/>
            <a:ext cx="502920" cy="320040"/>
          </a:xfrm>
          <a:prstGeom prst="rect">
            <a:avLst/>
          </a:prstGeom>
          <a:solidFill>
            <a:srgbClr val="18212B"/>
          </a:solidFill>
          <a:ln w="12700">
            <a:solidFill>
              <a:srgbClr val="18212B">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1167872" y="6446520"/>
            <a:ext cx="365760" cy="228600"/>
          </a:xfrm>
          <a:prstGeom prst="rect">
            <a:avLst/>
          </a:prstGeom>
          <a:noFill/>
          <a:ln/>
        </p:spPr>
        <p:txBody>
          <a:bodyPr wrap="square" lIns="0" tIns="0" rIns="0" bIns="0" rtlCol="0" anchor="t"/>
          <a:lstStyle/>
          <a:p>
            <a:pPr algn="r" indent="0" marL="0">
              <a:buNone/>
            </a:pPr>
            <a:r>
              <a:rPr lang="en-US" sz="1200" dirty="0">
                <a:solidFill>
                  <a:srgbClr val="65717D"/>
                </a:solidFill>
                <a:latin typeface="Arial" pitchFamily="34" charset="0"/>
                <a:ea typeface="Arial" pitchFamily="34" charset="-122"/>
                <a:cs typeface="Arial" pitchFamily="34" charset="-120"/>
              </a:rPr>
              <a:t>2</a:t>
            </a:r>
            <a:endParaRPr lang="en-US" sz="1200" dirty="0"/>
          </a:p>
        </p:txBody>
      </p:sp>
      <p:sp>
        <p:nvSpPr>
          <p:cNvPr id="3" name="Text 1"/>
          <p:cNvSpPr/>
          <p:nvPr/>
        </p:nvSpPr>
        <p:spPr>
          <a:xfrm>
            <a:off x="658368" y="384048"/>
            <a:ext cx="10875264" cy="1097280"/>
          </a:xfrm>
          <a:prstGeom prst="rect">
            <a:avLst/>
          </a:prstGeom>
          <a:noFill/>
          <a:ln/>
        </p:spPr>
        <p:txBody>
          <a:bodyPr wrap="square" lIns="0" tIns="0" rIns="0" bIns="0" rtlCol="0" anchor="t"/>
          <a:lstStyle/>
          <a:p>
            <a:pPr indent="0" marL="0">
              <a:buNone/>
            </a:pPr>
            <a:r>
              <a:rPr lang="en-US" sz="3400" b="1" dirty="0">
                <a:solidFill>
                  <a:srgbClr val="18212B"/>
                </a:solidFill>
                <a:latin typeface="Georgia" pitchFamily="34" charset="0"/>
                <a:ea typeface="Georgia" pitchFamily="34" charset="-122"/>
                <a:cs typeface="Georgia" pitchFamily="34" charset="-120"/>
              </a:rPr>
              <a:t>Milestones of Modern Space Exploration</a:t>
            </a:r>
            <a:endParaRPr lang="en-US" sz="3400" dirty="0"/>
          </a:p>
        </p:txBody>
      </p:sp>
      <p:sp>
        <p:nvSpPr>
          <p:cNvPr id="4" name="Text 2"/>
          <p:cNvSpPr/>
          <p:nvPr/>
        </p:nvSpPr>
        <p:spPr>
          <a:xfrm>
            <a:off x="658368" y="1554480"/>
            <a:ext cx="10875264" cy="384048"/>
          </a:xfrm>
          <a:prstGeom prst="rect">
            <a:avLst/>
          </a:prstGeom>
          <a:noFill/>
          <a:ln/>
        </p:spPr>
        <p:txBody>
          <a:bodyPr wrap="square" lIns="0" tIns="0" rIns="0" bIns="0" rtlCol="0" anchor="t"/>
          <a:lstStyle/>
          <a:p>
            <a:pPr indent="0" marL="0">
              <a:buNone/>
            </a:pPr>
            <a:r>
              <a:rPr lang="en-US" sz="1800" dirty="0">
                <a:solidFill>
                  <a:srgbClr val="65717D"/>
                </a:solidFill>
                <a:latin typeface="Arial" pitchFamily="34" charset="0"/>
                <a:ea typeface="Arial" pitchFamily="34" charset="-122"/>
                <a:cs typeface="Arial" pitchFamily="34" charset="-120"/>
              </a:rPr>
              <a:t>Foundational breakthroughs that opened the cosmos</a:t>
            </a:r>
            <a:endParaRPr lang="en-US" sz="1800" dirty="0"/>
          </a:p>
        </p:txBody>
      </p:sp>
      <p:sp>
        <p:nvSpPr>
          <p:cNvPr id="5" name="Shape 3"/>
          <p:cNvSpPr/>
          <p:nvPr/>
        </p:nvSpPr>
        <p:spPr>
          <a:xfrm>
            <a:off x="658368" y="1984248"/>
            <a:ext cx="594360" cy="41148"/>
          </a:xfrm>
          <a:prstGeom prst="rect">
            <a:avLst/>
          </a:prstGeom>
          <a:solidFill>
            <a:srgbClr val="A66A3F"/>
          </a:solidFill>
          <a:ln w="12700">
            <a:solidFill>
              <a:srgbClr val="A66A3F">
                <a:alpha val="0"/>
              </a:srgbClr>
            </a:solidFill>
            <a:prstDash val="solid"/>
          </a:ln>
        </p:spPr>
      </p:sp>
      <p:sp>
        <p:nvSpPr>
          <p:cNvPr id="6" name="Text 4"/>
          <p:cNvSpPr/>
          <p:nvPr/>
        </p:nvSpPr>
        <p:spPr>
          <a:xfrm>
            <a:off x="658368" y="2194560"/>
            <a:ext cx="1874520" cy="955548"/>
          </a:xfrm>
          <a:prstGeom prst="rect">
            <a:avLst/>
          </a:prstGeom>
          <a:noFill/>
          <a:ln/>
        </p:spPr>
        <p:txBody>
          <a:bodyPr wrap="square" lIns="0" tIns="0" rIns="0" bIns="0" rtlCol="0" anchor="t"/>
          <a:lstStyle/>
          <a:p>
            <a:pPr indent="0" marL="0">
              <a:buNone/>
            </a:pPr>
            <a:r>
              <a:rPr lang="en-US" sz="2000" b="1" dirty="0">
                <a:solidFill>
                  <a:srgbClr val="A66A3F"/>
                </a:solidFill>
                <a:latin typeface="Arial" pitchFamily="34" charset="0"/>
                <a:ea typeface="Arial" pitchFamily="34" charset="-122"/>
                <a:cs typeface="Arial" pitchFamily="34" charset="-120"/>
              </a:rPr>
              <a:t>1957–1961</a:t>
            </a:r>
            <a:endParaRPr lang="en-US" sz="2000" dirty="0"/>
          </a:p>
        </p:txBody>
      </p:sp>
      <p:sp>
        <p:nvSpPr>
          <p:cNvPr id="7" name="Text 5"/>
          <p:cNvSpPr/>
          <p:nvPr/>
        </p:nvSpPr>
        <p:spPr>
          <a:xfrm>
            <a:off x="2807208" y="2194560"/>
            <a:ext cx="3108960" cy="955548"/>
          </a:xfrm>
          <a:prstGeom prst="rect">
            <a:avLst/>
          </a:prstGeom>
          <a:noFill/>
          <a:ln/>
        </p:spPr>
        <p:txBody>
          <a:bodyPr wrap="square" lIns="0" tIns="0" rIns="0" bIns="0" rtlCol="0" anchor="t"/>
          <a:lstStyle/>
          <a:p>
            <a:pPr indent="0" marL="0">
              <a:buNone/>
            </a:pPr>
            <a:r>
              <a:rPr lang="en-US" sz="2200" b="1" dirty="0">
                <a:solidFill>
                  <a:srgbClr val="18212B"/>
                </a:solidFill>
                <a:latin typeface="Arial" pitchFamily="34" charset="0"/>
                <a:ea typeface="Arial" pitchFamily="34" charset="-122"/>
                <a:cs typeface="Arial" pitchFamily="34" charset="-120"/>
              </a:rPr>
              <a:t>Early Orbital Flight</a:t>
            </a:r>
            <a:endParaRPr lang="en-US" sz="2200" dirty="0"/>
          </a:p>
        </p:txBody>
      </p:sp>
      <p:sp>
        <p:nvSpPr>
          <p:cNvPr id="8" name="Text 6"/>
          <p:cNvSpPr/>
          <p:nvPr/>
        </p:nvSpPr>
        <p:spPr>
          <a:xfrm>
            <a:off x="6236208" y="2194560"/>
            <a:ext cx="5297424" cy="955548"/>
          </a:xfrm>
          <a:prstGeom prst="rect">
            <a:avLst/>
          </a:prstGeom>
          <a:noFill/>
          <a:ln/>
        </p:spPr>
        <p:txBody>
          <a:bodyPr wrap="square" lIns="0" tIns="0" rIns="0" bIns="0" rtlCol="0" anchor="t"/>
          <a:lstStyle/>
          <a:p>
            <a:pPr indent="0" marL="0">
              <a:buNone/>
            </a:pPr>
            <a:r>
              <a:rPr lang="en-US" sz="2000" dirty="0">
                <a:solidFill>
                  <a:srgbClr val="18212B"/>
                </a:solidFill>
                <a:latin typeface="Arial" pitchFamily="34" charset="0"/>
                <a:ea typeface="Arial" pitchFamily="34" charset="-122"/>
                <a:cs typeface="Arial" pitchFamily="34" charset="-120"/>
              </a:rPr>
              <a:t>Sputnik 1 and Vostok 1 demonstrate orbital insertion and human orbital flight.</a:t>
            </a:r>
            <a:endParaRPr lang="en-US" sz="2000" dirty="0"/>
          </a:p>
        </p:txBody>
      </p:sp>
      <p:sp>
        <p:nvSpPr>
          <p:cNvPr id="9" name="Text 7"/>
          <p:cNvSpPr/>
          <p:nvPr/>
        </p:nvSpPr>
        <p:spPr>
          <a:xfrm>
            <a:off x="658368" y="3241548"/>
            <a:ext cx="1874520" cy="955548"/>
          </a:xfrm>
          <a:prstGeom prst="rect">
            <a:avLst/>
          </a:prstGeom>
          <a:noFill/>
          <a:ln/>
        </p:spPr>
        <p:txBody>
          <a:bodyPr wrap="square" lIns="0" tIns="0" rIns="0" bIns="0" rtlCol="0" anchor="t"/>
          <a:lstStyle/>
          <a:p>
            <a:pPr indent="0" marL="0">
              <a:buNone/>
            </a:pPr>
            <a:r>
              <a:rPr lang="en-US" sz="2000" b="1" dirty="0">
                <a:solidFill>
                  <a:srgbClr val="A66A3F"/>
                </a:solidFill>
                <a:latin typeface="Arial" pitchFamily="34" charset="0"/>
                <a:ea typeface="Arial" pitchFamily="34" charset="-122"/>
                <a:cs typeface="Arial" pitchFamily="34" charset="-120"/>
              </a:rPr>
              <a:t>1969–1972</a:t>
            </a:r>
            <a:endParaRPr lang="en-US" sz="2000" dirty="0"/>
          </a:p>
        </p:txBody>
      </p:sp>
      <p:sp>
        <p:nvSpPr>
          <p:cNvPr id="10" name="Text 8"/>
          <p:cNvSpPr/>
          <p:nvPr/>
        </p:nvSpPr>
        <p:spPr>
          <a:xfrm>
            <a:off x="2807208" y="3241548"/>
            <a:ext cx="3108960" cy="955548"/>
          </a:xfrm>
          <a:prstGeom prst="rect">
            <a:avLst/>
          </a:prstGeom>
          <a:noFill/>
          <a:ln/>
        </p:spPr>
        <p:txBody>
          <a:bodyPr wrap="square" lIns="0" tIns="0" rIns="0" bIns="0" rtlCol="0" anchor="t"/>
          <a:lstStyle/>
          <a:p>
            <a:pPr indent="0" marL="0">
              <a:buNone/>
            </a:pPr>
            <a:r>
              <a:rPr lang="en-US" sz="2200" b="1" dirty="0">
                <a:solidFill>
                  <a:srgbClr val="18212B"/>
                </a:solidFill>
                <a:latin typeface="Arial" pitchFamily="34" charset="0"/>
                <a:ea typeface="Arial" pitchFamily="34" charset="-122"/>
                <a:cs typeface="Arial" pitchFamily="34" charset="-120"/>
              </a:rPr>
              <a:t>Apollo Moon Landings</a:t>
            </a:r>
            <a:endParaRPr lang="en-US" sz="2200" dirty="0"/>
          </a:p>
        </p:txBody>
      </p:sp>
      <p:sp>
        <p:nvSpPr>
          <p:cNvPr id="11" name="Text 9"/>
          <p:cNvSpPr/>
          <p:nvPr/>
        </p:nvSpPr>
        <p:spPr>
          <a:xfrm>
            <a:off x="6236208" y="3241548"/>
            <a:ext cx="5297424" cy="955548"/>
          </a:xfrm>
          <a:prstGeom prst="rect">
            <a:avLst/>
          </a:prstGeom>
          <a:noFill/>
          <a:ln/>
        </p:spPr>
        <p:txBody>
          <a:bodyPr wrap="square" lIns="0" tIns="0" rIns="0" bIns="0" rtlCol="0" anchor="t"/>
          <a:lstStyle/>
          <a:p>
            <a:pPr indent="0" marL="0">
              <a:buNone/>
            </a:pPr>
            <a:r>
              <a:rPr lang="en-US" sz="2000" dirty="0">
                <a:solidFill>
                  <a:srgbClr val="18212B"/>
                </a:solidFill>
                <a:latin typeface="Arial" pitchFamily="34" charset="0"/>
                <a:ea typeface="Arial" pitchFamily="34" charset="-122"/>
                <a:cs typeface="Arial" pitchFamily="34" charset="-120"/>
              </a:rPr>
              <a:t>Crewed lunar missions establish surface access and extraterrestrial operations.</a:t>
            </a:r>
            <a:endParaRPr lang="en-US" sz="2000" dirty="0"/>
          </a:p>
        </p:txBody>
      </p:sp>
      <p:sp>
        <p:nvSpPr>
          <p:cNvPr id="12" name="Text 10"/>
          <p:cNvSpPr/>
          <p:nvPr/>
        </p:nvSpPr>
        <p:spPr>
          <a:xfrm>
            <a:off x="658368" y="4288536"/>
            <a:ext cx="1874520" cy="955548"/>
          </a:xfrm>
          <a:prstGeom prst="rect">
            <a:avLst/>
          </a:prstGeom>
          <a:noFill/>
          <a:ln/>
        </p:spPr>
        <p:txBody>
          <a:bodyPr wrap="square" lIns="0" tIns="0" rIns="0" bIns="0" rtlCol="0" anchor="t"/>
          <a:lstStyle/>
          <a:p>
            <a:pPr indent="0" marL="0">
              <a:buNone/>
            </a:pPr>
            <a:r>
              <a:rPr lang="en-US" sz="2000" b="1" dirty="0">
                <a:solidFill>
                  <a:srgbClr val="A66A3F"/>
                </a:solidFill>
                <a:latin typeface="Arial" pitchFamily="34" charset="0"/>
                <a:ea typeface="Arial" pitchFamily="34" charset="-122"/>
                <a:cs typeface="Arial" pitchFamily="34" charset="-120"/>
              </a:rPr>
              <a:t>1970s–1990s</a:t>
            </a:r>
            <a:endParaRPr lang="en-US" sz="2000" dirty="0"/>
          </a:p>
        </p:txBody>
      </p:sp>
      <p:sp>
        <p:nvSpPr>
          <p:cNvPr id="13" name="Text 11"/>
          <p:cNvSpPr/>
          <p:nvPr/>
        </p:nvSpPr>
        <p:spPr>
          <a:xfrm>
            <a:off x="2807208" y="4288536"/>
            <a:ext cx="3108960" cy="955548"/>
          </a:xfrm>
          <a:prstGeom prst="rect">
            <a:avLst/>
          </a:prstGeom>
          <a:noFill/>
          <a:ln/>
        </p:spPr>
        <p:txBody>
          <a:bodyPr wrap="square" lIns="0" tIns="0" rIns="0" bIns="0" rtlCol="0" anchor="t"/>
          <a:lstStyle/>
          <a:p>
            <a:pPr indent="0" marL="0">
              <a:buNone/>
            </a:pPr>
            <a:r>
              <a:rPr lang="en-US" sz="2200" b="1" dirty="0">
                <a:solidFill>
                  <a:srgbClr val="18212B"/>
                </a:solidFill>
                <a:latin typeface="Arial" pitchFamily="34" charset="0"/>
                <a:ea typeface="Arial" pitchFamily="34" charset="-122"/>
                <a:cs typeface="Arial" pitchFamily="34" charset="-120"/>
              </a:rPr>
              <a:t>Robotic Planetary Probes</a:t>
            </a:r>
            <a:endParaRPr lang="en-US" sz="2200" dirty="0"/>
          </a:p>
        </p:txBody>
      </p:sp>
      <p:sp>
        <p:nvSpPr>
          <p:cNvPr id="14" name="Text 12"/>
          <p:cNvSpPr/>
          <p:nvPr/>
        </p:nvSpPr>
        <p:spPr>
          <a:xfrm>
            <a:off x="6236208" y="4288536"/>
            <a:ext cx="5297424" cy="955548"/>
          </a:xfrm>
          <a:prstGeom prst="rect">
            <a:avLst/>
          </a:prstGeom>
          <a:noFill/>
          <a:ln/>
        </p:spPr>
        <p:txBody>
          <a:bodyPr wrap="square" lIns="0" tIns="0" rIns="0" bIns="0" rtlCol="0" anchor="t"/>
          <a:lstStyle/>
          <a:p>
            <a:pPr indent="0" marL="0">
              <a:buNone/>
            </a:pPr>
            <a:r>
              <a:rPr lang="en-US" sz="2000" dirty="0">
                <a:solidFill>
                  <a:srgbClr val="18212B"/>
                </a:solidFill>
                <a:latin typeface="Arial" pitchFamily="34" charset="0"/>
                <a:ea typeface="Arial" pitchFamily="34" charset="-122"/>
                <a:cs typeface="Arial" pitchFamily="34" charset="-120"/>
              </a:rPr>
              <a:t>Uncrewed flybys and landers explore inner planets and outer solar system worlds.</a:t>
            </a:r>
            <a:endParaRPr lang="en-US" sz="2000" dirty="0"/>
          </a:p>
        </p:txBody>
      </p:sp>
      <p:sp>
        <p:nvSpPr>
          <p:cNvPr id="15" name="Text 13"/>
          <p:cNvSpPr/>
          <p:nvPr/>
        </p:nvSpPr>
        <p:spPr>
          <a:xfrm>
            <a:off x="658368" y="5335524"/>
            <a:ext cx="1874520" cy="955548"/>
          </a:xfrm>
          <a:prstGeom prst="rect">
            <a:avLst/>
          </a:prstGeom>
          <a:noFill/>
          <a:ln/>
        </p:spPr>
        <p:txBody>
          <a:bodyPr wrap="square" lIns="0" tIns="0" rIns="0" bIns="0" rtlCol="0" anchor="t"/>
          <a:lstStyle/>
          <a:p>
            <a:pPr indent="0" marL="0">
              <a:buNone/>
            </a:pPr>
            <a:r>
              <a:rPr lang="en-US" sz="2000" b="1" dirty="0">
                <a:solidFill>
                  <a:srgbClr val="A66A3F"/>
                </a:solidFill>
                <a:latin typeface="Arial" pitchFamily="34" charset="0"/>
                <a:ea typeface="Arial" pitchFamily="34" charset="-122"/>
                <a:cs typeface="Arial" pitchFamily="34" charset="-120"/>
              </a:rPr>
              <a:t>1998–Present</a:t>
            </a:r>
            <a:endParaRPr lang="en-US" sz="2000" dirty="0"/>
          </a:p>
        </p:txBody>
      </p:sp>
      <p:sp>
        <p:nvSpPr>
          <p:cNvPr id="16" name="Text 14"/>
          <p:cNvSpPr/>
          <p:nvPr/>
        </p:nvSpPr>
        <p:spPr>
          <a:xfrm>
            <a:off x="2807208" y="5335524"/>
            <a:ext cx="3108960" cy="955548"/>
          </a:xfrm>
          <a:prstGeom prst="rect">
            <a:avLst/>
          </a:prstGeom>
          <a:noFill/>
          <a:ln/>
        </p:spPr>
        <p:txBody>
          <a:bodyPr wrap="square" lIns="0" tIns="0" rIns="0" bIns="0" rtlCol="0" anchor="t"/>
          <a:lstStyle/>
          <a:p>
            <a:pPr indent="0" marL="0">
              <a:buNone/>
            </a:pPr>
            <a:r>
              <a:rPr lang="en-US" sz="2200" b="1" dirty="0">
                <a:solidFill>
                  <a:srgbClr val="18212B"/>
                </a:solidFill>
                <a:latin typeface="Arial" pitchFamily="34" charset="0"/>
                <a:ea typeface="Arial" pitchFamily="34" charset="-122"/>
                <a:cs typeface="Arial" pitchFamily="34" charset="-120"/>
              </a:rPr>
              <a:t>Orbital Habitation</a:t>
            </a:r>
            <a:endParaRPr lang="en-US" sz="2200" dirty="0"/>
          </a:p>
        </p:txBody>
      </p:sp>
      <p:sp>
        <p:nvSpPr>
          <p:cNvPr id="17" name="Text 15"/>
          <p:cNvSpPr/>
          <p:nvPr/>
        </p:nvSpPr>
        <p:spPr>
          <a:xfrm>
            <a:off x="6236208" y="5335524"/>
            <a:ext cx="5297424" cy="955548"/>
          </a:xfrm>
          <a:prstGeom prst="rect">
            <a:avLst/>
          </a:prstGeom>
          <a:noFill/>
          <a:ln/>
        </p:spPr>
        <p:txBody>
          <a:bodyPr wrap="square" lIns="0" tIns="0" rIns="0" bIns="0" rtlCol="0" anchor="t"/>
          <a:lstStyle/>
          <a:p>
            <a:pPr indent="0" marL="0">
              <a:buNone/>
            </a:pPr>
            <a:r>
              <a:rPr lang="en-US" sz="2000" dirty="0">
                <a:solidFill>
                  <a:srgbClr val="18212B"/>
                </a:solidFill>
                <a:latin typeface="Arial" pitchFamily="34" charset="0"/>
                <a:ea typeface="Arial" pitchFamily="34" charset="-122"/>
                <a:cs typeface="Arial" pitchFamily="34" charset="-120"/>
              </a:rPr>
              <a:t>Continuous crewed research operations begin in low Earth orbit.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1167872" y="6446520"/>
            <a:ext cx="365760" cy="228600"/>
          </a:xfrm>
          <a:prstGeom prst="rect">
            <a:avLst/>
          </a:prstGeom>
          <a:noFill/>
          <a:ln/>
        </p:spPr>
        <p:txBody>
          <a:bodyPr wrap="square" lIns="0" tIns="0" rIns="0" bIns="0" rtlCol="0" anchor="t"/>
          <a:lstStyle/>
          <a:p>
            <a:pPr algn="r" indent="0" marL="0">
              <a:buNone/>
            </a:pPr>
            <a:r>
              <a:rPr lang="en-US" sz="1200" dirty="0">
                <a:solidFill>
                  <a:srgbClr val="65717D"/>
                </a:solidFill>
                <a:latin typeface="Arial" pitchFamily="34" charset="0"/>
                <a:ea typeface="Arial" pitchFamily="34" charset="-122"/>
                <a:cs typeface="Arial" pitchFamily="34" charset="-120"/>
              </a:rPr>
              <a:t>3</a:t>
            </a:r>
            <a:endParaRPr lang="en-US" sz="1200" dirty="0"/>
          </a:p>
        </p:txBody>
      </p:sp>
      <p:sp>
        <p:nvSpPr>
          <p:cNvPr id="3" name="Text 1"/>
          <p:cNvSpPr/>
          <p:nvPr/>
        </p:nvSpPr>
        <p:spPr>
          <a:xfrm>
            <a:off x="658368" y="384048"/>
            <a:ext cx="10875264" cy="1097280"/>
          </a:xfrm>
          <a:prstGeom prst="rect">
            <a:avLst/>
          </a:prstGeom>
          <a:noFill/>
          <a:ln/>
        </p:spPr>
        <p:txBody>
          <a:bodyPr wrap="square" lIns="0" tIns="0" rIns="0" bIns="0" rtlCol="0" anchor="t"/>
          <a:lstStyle/>
          <a:p>
            <a:pPr indent="0" marL="0">
              <a:buNone/>
            </a:pPr>
            <a:r>
              <a:rPr lang="en-US" sz="3400" b="1" dirty="0">
                <a:solidFill>
                  <a:srgbClr val="18212B"/>
                </a:solidFill>
                <a:latin typeface="Georgia" pitchFamily="34" charset="0"/>
                <a:ea typeface="Georgia" pitchFamily="34" charset="-122"/>
                <a:cs typeface="Georgia" pitchFamily="34" charset="-120"/>
              </a:rPr>
              <a:t>The International Space Station</a:t>
            </a:r>
            <a:endParaRPr lang="en-US" sz="3400" dirty="0"/>
          </a:p>
        </p:txBody>
      </p:sp>
      <p:sp>
        <p:nvSpPr>
          <p:cNvPr id="4" name="Text 2"/>
          <p:cNvSpPr/>
          <p:nvPr/>
        </p:nvSpPr>
        <p:spPr>
          <a:xfrm>
            <a:off x="658368" y="1554480"/>
            <a:ext cx="10875264" cy="384048"/>
          </a:xfrm>
          <a:prstGeom prst="rect">
            <a:avLst/>
          </a:prstGeom>
          <a:noFill/>
          <a:ln/>
        </p:spPr>
        <p:txBody>
          <a:bodyPr wrap="square" lIns="0" tIns="0" rIns="0" bIns="0" rtlCol="0" anchor="t"/>
          <a:lstStyle/>
          <a:p>
            <a:pPr indent="0" marL="0">
              <a:buNone/>
            </a:pPr>
            <a:r>
              <a:rPr lang="en-US" sz="1800" dirty="0">
                <a:solidFill>
                  <a:srgbClr val="65717D"/>
                </a:solidFill>
                <a:latin typeface="Arial" pitchFamily="34" charset="0"/>
                <a:ea typeface="Arial" pitchFamily="34" charset="-122"/>
                <a:cs typeface="Arial" pitchFamily="34" charset="-120"/>
              </a:rPr>
              <a:t>Over two decades of continuous human presence in microgravity</a:t>
            </a:r>
            <a:endParaRPr lang="en-US" sz="1800" dirty="0"/>
          </a:p>
        </p:txBody>
      </p:sp>
      <p:sp>
        <p:nvSpPr>
          <p:cNvPr id="5" name="Shape 3"/>
          <p:cNvSpPr/>
          <p:nvPr/>
        </p:nvSpPr>
        <p:spPr>
          <a:xfrm>
            <a:off x="658368" y="1984248"/>
            <a:ext cx="594360" cy="41148"/>
          </a:xfrm>
          <a:prstGeom prst="rect">
            <a:avLst/>
          </a:prstGeom>
          <a:solidFill>
            <a:srgbClr val="A66A3F"/>
          </a:solidFill>
          <a:ln w="12700">
            <a:solidFill>
              <a:srgbClr val="A66A3F">
                <a:alpha val="0"/>
              </a:srgbClr>
            </a:solidFill>
            <a:prstDash val="solid"/>
          </a:ln>
        </p:spPr>
      </p:sp>
      <p:sp>
        <p:nvSpPr>
          <p:cNvPr id="6" name="Text 4"/>
          <p:cNvSpPr/>
          <p:nvPr/>
        </p:nvSpPr>
        <p:spPr>
          <a:xfrm>
            <a:off x="658368" y="2194560"/>
            <a:ext cx="1691640" cy="640080"/>
          </a:xfrm>
          <a:prstGeom prst="rect">
            <a:avLst/>
          </a:prstGeom>
          <a:noFill/>
          <a:ln/>
        </p:spPr>
        <p:txBody>
          <a:bodyPr wrap="square" lIns="0" tIns="0" rIns="0" bIns="0" rtlCol="0" anchor="t"/>
          <a:lstStyle/>
          <a:p>
            <a:pPr indent="0" marL="0">
              <a:buNone/>
            </a:pPr>
            <a:r>
              <a:rPr lang="en-US" sz="2200" b="1" dirty="0">
                <a:solidFill>
                  <a:srgbClr val="18212B"/>
                </a:solidFill>
                <a:latin typeface="Arial" pitchFamily="34" charset="0"/>
                <a:ea typeface="Arial" pitchFamily="34" charset="-122"/>
                <a:cs typeface="Arial" pitchFamily="34" charset="-120"/>
              </a:rPr>
              <a:t>Context</a:t>
            </a:r>
            <a:endParaRPr lang="en-US" sz="2200" dirty="0"/>
          </a:p>
        </p:txBody>
      </p:sp>
      <p:sp>
        <p:nvSpPr>
          <p:cNvPr id="7" name="Text 5"/>
          <p:cNvSpPr/>
          <p:nvPr/>
        </p:nvSpPr>
        <p:spPr>
          <a:xfrm>
            <a:off x="2578608" y="2194560"/>
            <a:ext cx="8955024" cy="731520"/>
          </a:xfrm>
          <a:prstGeom prst="rect">
            <a:avLst/>
          </a:prstGeom>
          <a:noFill/>
          <a:ln/>
        </p:spPr>
        <p:txBody>
          <a:bodyPr wrap="square" lIns="0" tIns="0" rIns="0" bIns="0" rtlCol="0" anchor="t"/>
          <a:lstStyle/>
          <a:p>
            <a:pPr indent="0" marL="0">
              <a:buNone/>
            </a:pPr>
            <a:r>
              <a:rPr lang="en-US" sz="2200" dirty="0">
                <a:solidFill>
                  <a:srgbClr val="18212B"/>
                </a:solidFill>
                <a:latin typeface="Arial" pitchFamily="34" charset="0"/>
                <a:ea typeface="Arial" pitchFamily="34" charset="-122"/>
                <a:cs typeface="Arial" pitchFamily="34" charset="-120"/>
              </a:rPr>
              <a:t>Global agencies established an orbital laboratory in low Earth orbit.</a:t>
            </a:r>
            <a:endParaRPr lang="en-US" sz="2200" dirty="0"/>
          </a:p>
        </p:txBody>
      </p:sp>
      <p:sp>
        <p:nvSpPr>
          <p:cNvPr id="8" name="Text 6"/>
          <p:cNvSpPr/>
          <p:nvPr/>
        </p:nvSpPr>
        <p:spPr>
          <a:xfrm>
            <a:off x="658368" y="3017520"/>
            <a:ext cx="1691640" cy="640080"/>
          </a:xfrm>
          <a:prstGeom prst="rect">
            <a:avLst/>
          </a:prstGeom>
          <a:noFill/>
          <a:ln/>
        </p:spPr>
        <p:txBody>
          <a:bodyPr wrap="square" lIns="0" tIns="0" rIns="0" bIns="0" rtlCol="0" anchor="t"/>
          <a:lstStyle/>
          <a:p>
            <a:pPr indent="0" marL="0">
              <a:buNone/>
            </a:pPr>
            <a:r>
              <a:rPr lang="en-US" sz="2200" b="1" dirty="0">
                <a:solidFill>
                  <a:srgbClr val="18212B"/>
                </a:solidFill>
                <a:latin typeface="Arial" pitchFamily="34" charset="0"/>
                <a:ea typeface="Arial" pitchFamily="34" charset="-122"/>
                <a:cs typeface="Arial" pitchFamily="34" charset="-120"/>
              </a:rPr>
              <a:t>Challenge</a:t>
            </a:r>
            <a:endParaRPr lang="en-US" sz="2200" dirty="0"/>
          </a:p>
        </p:txBody>
      </p:sp>
      <p:sp>
        <p:nvSpPr>
          <p:cNvPr id="9" name="Text 7"/>
          <p:cNvSpPr/>
          <p:nvPr/>
        </p:nvSpPr>
        <p:spPr>
          <a:xfrm>
            <a:off x="2578608" y="3017520"/>
            <a:ext cx="8955024" cy="731520"/>
          </a:xfrm>
          <a:prstGeom prst="rect">
            <a:avLst/>
          </a:prstGeom>
          <a:noFill/>
          <a:ln/>
        </p:spPr>
        <p:txBody>
          <a:bodyPr wrap="square" lIns="0" tIns="0" rIns="0" bIns="0" rtlCol="0" anchor="t"/>
          <a:lstStyle/>
          <a:p>
            <a:pPr indent="0" marL="0">
              <a:buNone/>
            </a:pPr>
            <a:r>
              <a:rPr lang="en-US" sz="2200" dirty="0">
                <a:solidFill>
                  <a:srgbClr val="18212B"/>
                </a:solidFill>
                <a:latin typeface="Arial" pitchFamily="34" charset="0"/>
                <a:ea typeface="Arial" pitchFamily="34" charset="-122"/>
                <a:cs typeface="Arial" pitchFamily="34" charset="-120"/>
              </a:rPr>
              <a:t>Sustaining long-term crew health and operational stability in microgravity.</a:t>
            </a:r>
            <a:endParaRPr lang="en-US" sz="2200" dirty="0"/>
          </a:p>
        </p:txBody>
      </p:sp>
      <p:sp>
        <p:nvSpPr>
          <p:cNvPr id="10" name="Text 8"/>
          <p:cNvSpPr/>
          <p:nvPr/>
        </p:nvSpPr>
        <p:spPr>
          <a:xfrm>
            <a:off x="658368" y="3840480"/>
            <a:ext cx="1691640" cy="640080"/>
          </a:xfrm>
          <a:prstGeom prst="rect">
            <a:avLst/>
          </a:prstGeom>
          <a:noFill/>
          <a:ln/>
        </p:spPr>
        <p:txBody>
          <a:bodyPr wrap="square" lIns="0" tIns="0" rIns="0" bIns="0" rtlCol="0" anchor="t"/>
          <a:lstStyle/>
          <a:p>
            <a:pPr indent="0" marL="0">
              <a:buNone/>
            </a:pPr>
            <a:r>
              <a:rPr lang="en-US" sz="2200" b="1" dirty="0">
                <a:solidFill>
                  <a:srgbClr val="18212B"/>
                </a:solidFill>
                <a:latin typeface="Arial" pitchFamily="34" charset="0"/>
                <a:ea typeface="Arial" pitchFamily="34" charset="-122"/>
                <a:cs typeface="Arial" pitchFamily="34" charset="-120"/>
              </a:rPr>
              <a:t>Action</a:t>
            </a:r>
            <a:endParaRPr lang="en-US" sz="2200" dirty="0"/>
          </a:p>
        </p:txBody>
      </p:sp>
      <p:sp>
        <p:nvSpPr>
          <p:cNvPr id="11" name="Text 9"/>
          <p:cNvSpPr/>
          <p:nvPr/>
        </p:nvSpPr>
        <p:spPr>
          <a:xfrm>
            <a:off x="2578608" y="3840480"/>
            <a:ext cx="8955024" cy="731520"/>
          </a:xfrm>
          <a:prstGeom prst="rect">
            <a:avLst/>
          </a:prstGeom>
          <a:noFill/>
          <a:ln/>
        </p:spPr>
        <p:txBody>
          <a:bodyPr wrap="square" lIns="0" tIns="0" rIns="0" bIns="0" rtlCol="0" anchor="t"/>
          <a:lstStyle/>
          <a:p>
            <a:pPr indent="0" marL="0">
              <a:buNone/>
            </a:pPr>
            <a:r>
              <a:rPr lang="en-US" sz="2200" dirty="0">
                <a:solidFill>
                  <a:srgbClr val="18212B"/>
                </a:solidFill>
                <a:latin typeface="Arial" pitchFamily="34" charset="0"/>
                <a:ea typeface="Arial" pitchFamily="34" charset="-122"/>
                <a:cs typeface="Arial" pitchFamily="34" charset="-120"/>
              </a:rPr>
              <a:t>Agencies conducted physiological research and tested closed-loop life support.</a:t>
            </a:r>
            <a:endParaRPr lang="en-US" sz="2200" dirty="0"/>
          </a:p>
        </p:txBody>
      </p:sp>
      <p:sp>
        <p:nvSpPr>
          <p:cNvPr id="12" name="Text 10"/>
          <p:cNvSpPr/>
          <p:nvPr/>
        </p:nvSpPr>
        <p:spPr>
          <a:xfrm>
            <a:off x="658368" y="4663440"/>
            <a:ext cx="1691640" cy="640080"/>
          </a:xfrm>
          <a:prstGeom prst="rect">
            <a:avLst/>
          </a:prstGeom>
          <a:noFill/>
          <a:ln/>
        </p:spPr>
        <p:txBody>
          <a:bodyPr wrap="square" lIns="0" tIns="0" rIns="0" bIns="0" rtlCol="0" anchor="t"/>
          <a:lstStyle/>
          <a:p>
            <a:pPr indent="0" marL="0">
              <a:buNone/>
            </a:pPr>
            <a:r>
              <a:rPr lang="en-US" sz="2200" b="1" dirty="0">
                <a:solidFill>
                  <a:srgbClr val="18212B"/>
                </a:solidFill>
                <a:latin typeface="Arial" pitchFamily="34" charset="0"/>
                <a:ea typeface="Arial" pitchFamily="34" charset="-122"/>
                <a:cs typeface="Arial" pitchFamily="34" charset="-120"/>
              </a:rPr>
              <a:t>Outcome</a:t>
            </a:r>
            <a:endParaRPr lang="en-US" sz="2200" dirty="0"/>
          </a:p>
        </p:txBody>
      </p:sp>
      <p:sp>
        <p:nvSpPr>
          <p:cNvPr id="13" name="Text 11"/>
          <p:cNvSpPr/>
          <p:nvPr/>
        </p:nvSpPr>
        <p:spPr>
          <a:xfrm>
            <a:off x="2578608" y="4663440"/>
            <a:ext cx="8955024" cy="731520"/>
          </a:xfrm>
          <a:prstGeom prst="rect">
            <a:avLst/>
          </a:prstGeom>
          <a:noFill/>
          <a:ln/>
        </p:spPr>
        <p:txBody>
          <a:bodyPr wrap="square" lIns="0" tIns="0" rIns="0" bIns="0" rtlCol="0" anchor="t"/>
          <a:lstStyle/>
          <a:p>
            <a:pPr indent="0" marL="0">
              <a:buNone/>
            </a:pPr>
            <a:r>
              <a:rPr lang="en-US" sz="2200" dirty="0">
                <a:solidFill>
                  <a:srgbClr val="18212B"/>
                </a:solidFill>
                <a:latin typeface="Arial" pitchFamily="34" charset="0"/>
                <a:ea typeface="Arial" pitchFamily="34" charset="-122"/>
                <a:cs typeface="Arial" pitchFamily="34" charset="-120"/>
              </a:rPr>
              <a:t>Over two decades of continuous human presence and essential habitability data.</a:t>
            </a:r>
            <a:endParaRPr lang="en-US" sz="2200" dirty="0"/>
          </a:p>
        </p:txBody>
      </p:sp>
      <p:sp>
        <p:nvSpPr>
          <p:cNvPr id="14" name="Text 12"/>
          <p:cNvSpPr/>
          <p:nvPr/>
        </p:nvSpPr>
        <p:spPr>
          <a:xfrm>
            <a:off x="658368" y="5486400"/>
            <a:ext cx="1691640" cy="640080"/>
          </a:xfrm>
          <a:prstGeom prst="rect">
            <a:avLst/>
          </a:prstGeom>
          <a:noFill/>
          <a:ln/>
        </p:spPr>
        <p:txBody>
          <a:bodyPr wrap="square" lIns="0" tIns="0" rIns="0" bIns="0" rtlCol="0" anchor="t"/>
          <a:lstStyle/>
          <a:p>
            <a:pPr indent="0" marL="0">
              <a:buNone/>
            </a:pPr>
            <a:r>
              <a:rPr lang="en-US" sz="2200" b="1" dirty="0">
                <a:solidFill>
                  <a:srgbClr val="18212B"/>
                </a:solidFill>
                <a:latin typeface="Arial" pitchFamily="34" charset="0"/>
                <a:ea typeface="Arial" pitchFamily="34" charset="-122"/>
                <a:cs typeface="Arial" pitchFamily="34" charset="-120"/>
              </a:rPr>
              <a:t>Lesson</a:t>
            </a:r>
            <a:endParaRPr lang="en-US" sz="2200" dirty="0"/>
          </a:p>
        </p:txBody>
      </p:sp>
      <p:sp>
        <p:nvSpPr>
          <p:cNvPr id="15" name="Text 13"/>
          <p:cNvSpPr/>
          <p:nvPr/>
        </p:nvSpPr>
        <p:spPr>
          <a:xfrm>
            <a:off x="2578608" y="5486400"/>
            <a:ext cx="8955024" cy="731520"/>
          </a:xfrm>
          <a:prstGeom prst="rect">
            <a:avLst/>
          </a:prstGeom>
          <a:noFill/>
          <a:ln/>
        </p:spPr>
        <p:txBody>
          <a:bodyPr wrap="square" lIns="0" tIns="0" rIns="0" bIns="0" rtlCol="0" anchor="t"/>
          <a:lstStyle/>
          <a:p>
            <a:pPr indent="0" marL="0">
              <a:buNone/>
            </a:pPr>
            <a:r>
              <a:rPr lang="en-US" sz="2200" dirty="0">
                <a:solidFill>
                  <a:srgbClr val="18212B"/>
                </a:solidFill>
                <a:latin typeface="Arial" pitchFamily="34" charset="0"/>
                <a:ea typeface="Arial" pitchFamily="34" charset="-122"/>
                <a:cs typeface="Arial" pitchFamily="34" charset="-120"/>
              </a:rPr>
              <a:t>International cooperation and orbital testing enable future deep-space missions.</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1167872" y="6446520"/>
            <a:ext cx="365760" cy="228600"/>
          </a:xfrm>
          <a:prstGeom prst="rect">
            <a:avLst/>
          </a:prstGeom>
          <a:noFill/>
          <a:ln/>
        </p:spPr>
        <p:txBody>
          <a:bodyPr wrap="square" lIns="0" tIns="0" rIns="0" bIns="0" rtlCol="0" anchor="t"/>
          <a:lstStyle/>
          <a:p>
            <a:pPr algn="r" indent="0" marL="0">
              <a:buNone/>
            </a:pPr>
            <a:r>
              <a:rPr lang="en-US" sz="1200" dirty="0">
                <a:solidFill>
                  <a:srgbClr val="65717D"/>
                </a:solidFill>
                <a:latin typeface="Arial" pitchFamily="34" charset="0"/>
                <a:ea typeface="Arial" pitchFamily="34" charset="-122"/>
                <a:cs typeface="Arial" pitchFamily="34" charset="-120"/>
              </a:rPr>
              <a:t>4</a:t>
            </a:r>
            <a:endParaRPr lang="en-US" sz="1200" dirty="0"/>
          </a:p>
        </p:txBody>
      </p:sp>
      <p:sp>
        <p:nvSpPr>
          <p:cNvPr id="3" name="Text 1"/>
          <p:cNvSpPr/>
          <p:nvPr/>
        </p:nvSpPr>
        <p:spPr>
          <a:xfrm>
            <a:off x="658368" y="384048"/>
            <a:ext cx="10875264" cy="1097280"/>
          </a:xfrm>
          <a:prstGeom prst="rect">
            <a:avLst/>
          </a:prstGeom>
          <a:noFill/>
          <a:ln/>
        </p:spPr>
        <p:txBody>
          <a:bodyPr wrap="square" lIns="0" tIns="0" rIns="0" bIns="0" rtlCol="0" anchor="t"/>
          <a:lstStyle/>
          <a:p>
            <a:pPr indent="0" marL="0">
              <a:buNone/>
            </a:pPr>
            <a:r>
              <a:rPr lang="en-US" sz="3400" b="1" dirty="0">
                <a:solidFill>
                  <a:srgbClr val="18212B"/>
                </a:solidFill>
                <a:latin typeface="Georgia" pitchFamily="34" charset="0"/>
                <a:ea typeface="Georgia" pitchFamily="34" charset="-122"/>
                <a:cs typeface="Georgia" pitchFamily="34" charset="-120"/>
              </a:rPr>
              <a:t>The Paradigm Shift of Reusable Rockets</a:t>
            </a:r>
            <a:endParaRPr lang="en-US" sz="3400" dirty="0"/>
          </a:p>
        </p:txBody>
      </p:sp>
      <p:sp>
        <p:nvSpPr>
          <p:cNvPr id="4" name="Text 2"/>
          <p:cNvSpPr/>
          <p:nvPr/>
        </p:nvSpPr>
        <p:spPr>
          <a:xfrm>
            <a:off x="658368" y="1554480"/>
            <a:ext cx="10875264" cy="384048"/>
          </a:xfrm>
          <a:prstGeom prst="rect">
            <a:avLst/>
          </a:prstGeom>
          <a:noFill/>
          <a:ln/>
        </p:spPr>
        <p:txBody>
          <a:bodyPr wrap="square" lIns="0" tIns="0" rIns="0" bIns="0" rtlCol="0" anchor="t"/>
          <a:lstStyle/>
          <a:p>
            <a:pPr indent="0" marL="0">
              <a:buNone/>
            </a:pPr>
            <a:r>
              <a:rPr lang="en-US" sz="1800" dirty="0">
                <a:solidFill>
                  <a:srgbClr val="65717D"/>
                </a:solidFill>
                <a:latin typeface="Arial" pitchFamily="34" charset="0"/>
                <a:ea typeface="Arial" pitchFamily="34" charset="-122"/>
                <a:cs typeface="Arial" pitchFamily="34" charset="-120"/>
              </a:rPr>
              <a:t>Transforming launch economics and mission cadence</a:t>
            </a:r>
            <a:endParaRPr lang="en-US" sz="1800" dirty="0"/>
          </a:p>
        </p:txBody>
      </p:sp>
      <p:sp>
        <p:nvSpPr>
          <p:cNvPr id="5" name="Shape 3"/>
          <p:cNvSpPr/>
          <p:nvPr/>
        </p:nvSpPr>
        <p:spPr>
          <a:xfrm>
            <a:off x="658368" y="1984248"/>
            <a:ext cx="594360" cy="41148"/>
          </a:xfrm>
          <a:prstGeom prst="rect">
            <a:avLst/>
          </a:prstGeom>
          <a:solidFill>
            <a:srgbClr val="A66A3F"/>
          </a:solidFill>
          <a:ln w="12700">
            <a:solidFill>
              <a:srgbClr val="A66A3F">
                <a:alpha val="0"/>
              </a:srgbClr>
            </a:solidFill>
            <a:prstDash val="solid"/>
          </a:ln>
        </p:spPr>
      </p:sp>
      <p:sp>
        <p:nvSpPr>
          <p:cNvPr id="6" name="Shape 4"/>
          <p:cNvSpPr/>
          <p:nvPr/>
        </p:nvSpPr>
        <p:spPr>
          <a:xfrm>
            <a:off x="658368" y="2194560"/>
            <a:ext cx="594360" cy="41148"/>
          </a:xfrm>
          <a:prstGeom prst="rect">
            <a:avLst/>
          </a:prstGeom>
          <a:solidFill>
            <a:srgbClr val="A66A3F"/>
          </a:solidFill>
          <a:ln w="12700">
            <a:solidFill>
              <a:srgbClr val="A66A3F">
                <a:alpha val="0"/>
              </a:srgbClr>
            </a:solidFill>
            <a:prstDash val="solid"/>
          </a:ln>
        </p:spPr>
      </p:sp>
      <p:sp>
        <p:nvSpPr>
          <p:cNvPr id="7" name="Text 5"/>
          <p:cNvSpPr/>
          <p:nvPr/>
        </p:nvSpPr>
        <p:spPr>
          <a:xfrm>
            <a:off x="658368" y="2468880"/>
            <a:ext cx="5254752" cy="914400"/>
          </a:xfrm>
          <a:prstGeom prst="rect">
            <a:avLst/>
          </a:prstGeom>
          <a:noFill/>
          <a:ln/>
        </p:spPr>
        <p:txBody>
          <a:bodyPr wrap="square" lIns="0" tIns="0" rIns="0" bIns="0" rtlCol="0" anchor="t"/>
          <a:lstStyle/>
          <a:p>
            <a:pPr indent="0" marL="0">
              <a:buNone/>
            </a:pPr>
            <a:r>
              <a:rPr lang="en-US" sz="2600" b="1" dirty="0">
                <a:solidFill>
                  <a:srgbClr val="18212B"/>
                </a:solidFill>
                <a:latin typeface="Arial" pitchFamily="34" charset="0"/>
                <a:ea typeface="Arial" pitchFamily="34" charset="-122"/>
                <a:cs typeface="Arial" pitchFamily="34" charset="-120"/>
              </a:rPr>
              <a:t>Expendable Systems</a:t>
            </a:r>
            <a:endParaRPr lang="en-US" sz="2600" dirty="0"/>
          </a:p>
        </p:txBody>
      </p:sp>
      <p:sp>
        <p:nvSpPr>
          <p:cNvPr id="8" name="Text 6"/>
          <p:cNvSpPr/>
          <p:nvPr/>
        </p:nvSpPr>
        <p:spPr>
          <a:xfrm>
            <a:off x="658368" y="3566160"/>
            <a:ext cx="5254752" cy="804672"/>
          </a:xfrm>
          <a:prstGeom prst="rect">
            <a:avLst/>
          </a:prstGeom>
          <a:noFill/>
          <a:ln/>
        </p:spPr>
        <p:txBody>
          <a:bodyPr wrap="square" lIns="0" tIns="0" rIns="0" bIns="0" rtlCol="0" anchor="t"/>
          <a:lstStyle/>
          <a:p>
            <a:pPr indent="0" marL="0">
              <a:buNone/>
            </a:pPr>
            <a:r>
              <a:rPr lang="en-US" sz="2200" dirty="0">
                <a:solidFill>
                  <a:srgbClr val="18212B"/>
                </a:solidFill>
                <a:latin typeface="Arial" pitchFamily="34" charset="0"/>
                <a:ea typeface="Arial" pitchFamily="34" charset="-122"/>
                <a:cs typeface="Arial" pitchFamily="34" charset="-120"/>
              </a:rPr>
              <a:t>• Hardware discarded in atmosphere after single launch</a:t>
            </a:r>
            <a:endParaRPr lang="en-US" sz="2200" dirty="0"/>
          </a:p>
        </p:txBody>
      </p:sp>
      <p:sp>
        <p:nvSpPr>
          <p:cNvPr id="9" name="Text 7"/>
          <p:cNvSpPr/>
          <p:nvPr/>
        </p:nvSpPr>
        <p:spPr>
          <a:xfrm>
            <a:off x="658368" y="4480560"/>
            <a:ext cx="5254752" cy="804672"/>
          </a:xfrm>
          <a:prstGeom prst="rect">
            <a:avLst/>
          </a:prstGeom>
          <a:noFill/>
          <a:ln/>
        </p:spPr>
        <p:txBody>
          <a:bodyPr wrap="square" lIns="0" tIns="0" rIns="0" bIns="0" rtlCol="0" anchor="t"/>
          <a:lstStyle/>
          <a:p>
            <a:pPr indent="0" marL="0">
              <a:buNone/>
            </a:pPr>
            <a:r>
              <a:rPr lang="en-US" sz="2200" dirty="0">
                <a:solidFill>
                  <a:srgbClr val="18212B"/>
                </a:solidFill>
                <a:latin typeface="Arial" pitchFamily="34" charset="0"/>
                <a:ea typeface="Arial" pitchFamily="34" charset="-122"/>
                <a:cs typeface="Arial" pitchFamily="34" charset="-120"/>
              </a:rPr>
              <a:t>• High capital expenditure required for every payload</a:t>
            </a:r>
            <a:endParaRPr lang="en-US" sz="2200" dirty="0"/>
          </a:p>
        </p:txBody>
      </p:sp>
      <p:sp>
        <p:nvSpPr>
          <p:cNvPr id="10" name="Text 8"/>
          <p:cNvSpPr/>
          <p:nvPr/>
        </p:nvSpPr>
        <p:spPr>
          <a:xfrm>
            <a:off x="658368" y="5394960"/>
            <a:ext cx="5254752" cy="804672"/>
          </a:xfrm>
          <a:prstGeom prst="rect">
            <a:avLst/>
          </a:prstGeom>
          <a:noFill/>
          <a:ln/>
        </p:spPr>
        <p:txBody>
          <a:bodyPr wrap="square" lIns="0" tIns="0" rIns="0" bIns="0" rtlCol="0" anchor="t"/>
          <a:lstStyle/>
          <a:p>
            <a:pPr indent="0" marL="0">
              <a:buNone/>
            </a:pPr>
            <a:r>
              <a:rPr lang="en-US" sz="2200" dirty="0">
                <a:solidFill>
                  <a:srgbClr val="18212B"/>
                </a:solidFill>
                <a:latin typeface="Arial" pitchFamily="34" charset="0"/>
                <a:ea typeface="Arial" pitchFamily="34" charset="-122"/>
                <a:cs typeface="Arial" pitchFamily="34" charset="-120"/>
              </a:rPr>
              <a:t>• Flight frequency bounded by manufacturing limits</a:t>
            </a:r>
            <a:endParaRPr lang="en-US" sz="2200" dirty="0"/>
          </a:p>
        </p:txBody>
      </p:sp>
      <p:sp>
        <p:nvSpPr>
          <p:cNvPr id="11" name="Shape 9"/>
          <p:cNvSpPr/>
          <p:nvPr/>
        </p:nvSpPr>
        <p:spPr>
          <a:xfrm>
            <a:off x="6278880" y="2194560"/>
            <a:ext cx="594360" cy="41148"/>
          </a:xfrm>
          <a:prstGeom prst="rect">
            <a:avLst/>
          </a:prstGeom>
          <a:solidFill>
            <a:srgbClr val="A66A3F"/>
          </a:solidFill>
          <a:ln w="12700">
            <a:solidFill>
              <a:srgbClr val="A66A3F">
                <a:alpha val="0"/>
              </a:srgbClr>
            </a:solidFill>
            <a:prstDash val="solid"/>
          </a:ln>
        </p:spPr>
      </p:sp>
      <p:sp>
        <p:nvSpPr>
          <p:cNvPr id="12" name="Text 10"/>
          <p:cNvSpPr/>
          <p:nvPr/>
        </p:nvSpPr>
        <p:spPr>
          <a:xfrm>
            <a:off x="6278880" y="2468880"/>
            <a:ext cx="5254752" cy="914400"/>
          </a:xfrm>
          <a:prstGeom prst="rect">
            <a:avLst/>
          </a:prstGeom>
          <a:noFill/>
          <a:ln/>
        </p:spPr>
        <p:txBody>
          <a:bodyPr wrap="square" lIns="0" tIns="0" rIns="0" bIns="0" rtlCol="0" anchor="t"/>
          <a:lstStyle/>
          <a:p>
            <a:pPr indent="0" marL="0">
              <a:buNone/>
            </a:pPr>
            <a:r>
              <a:rPr lang="en-US" sz="2600" b="1" dirty="0">
                <a:solidFill>
                  <a:srgbClr val="18212B"/>
                </a:solidFill>
                <a:latin typeface="Arial" pitchFamily="34" charset="0"/>
                <a:ea typeface="Arial" pitchFamily="34" charset="-122"/>
                <a:cs typeface="Arial" pitchFamily="34" charset="-120"/>
              </a:rPr>
              <a:t>Reusable Systems</a:t>
            </a:r>
            <a:endParaRPr lang="en-US" sz="2600" dirty="0"/>
          </a:p>
        </p:txBody>
      </p:sp>
      <p:sp>
        <p:nvSpPr>
          <p:cNvPr id="13" name="Text 11"/>
          <p:cNvSpPr/>
          <p:nvPr/>
        </p:nvSpPr>
        <p:spPr>
          <a:xfrm>
            <a:off x="6278880" y="3566160"/>
            <a:ext cx="5254752" cy="804672"/>
          </a:xfrm>
          <a:prstGeom prst="rect">
            <a:avLst/>
          </a:prstGeom>
          <a:noFill/>
          <a:ln/>
        </p:spPr>
        <p:txBody>
          <a:bodyPr wrap="square" lIns="0" tIns="0" rIns="0" bIns="0" rtlCol="0" anchor="t"/>
          <a:lstStyle/>
          <a:p>
            <a:pPr indent="0" marL="0">
              <a:buNone/>
            </a:pPr>
            <a:r>
              <a:rPr lang="en-US" sz="2200" dirty="0">
                <a:solidFill>
                  <a:srgbClr val="18212B"/>
                </a:solidFill>
                <a:latin typeface="Arial" pitchFamily="34" charset="0"/>
                <a:ea typeface="Arial" pitchFamily="34" charset="-122"/>
                <a:cs typeface="Arial" pitchFamily="34" charset="-120"/>
              </a:rPr>
              <a:t>• Propulsive vertical recovery of first-stage boosters</a:t>
            </a:r>
            <a:endParaRPr lang="en-US" sz="2200" dirty="0"/>
          </a:p>
        </p:txBody>
      </p:sp>
      <p:sp>
        <p:nvSpPr>
          <p:cNvPr id="14" name="Text 12"/>
          <p:cNvSpPr/>
          <p:nvPr/>
        </p:nvSpPr>
        <p:spPr>
          <a:xfrm>
            <a:off x="6278880" y="4480560"/>
            <a:ext cx="5254752" cy="804672"/>
          </a:xfrm>
          <a:prstGeom prst="rect">
            <a:avLst/>
          </a:prstGeom>
          <a:noFill/>
          <a:ln/>
        </p:spPr>
        <p:txBody>
          <a:bodyPr wrap="square" lIns="0" tIns="0" rIns="0" bIns="0" rtlCol="0" anchor="t"/>
          <a:lstStyle/>
          <a:p>
            <a:pPr indent="0" marL="0">
              <a:buNone/>
            </a:pPr>
            <a:r>
              <a:rPr lang="en-US" sz="2200" dirty="0">
                <a:solidFill>
                  <a:srgbClr val="18212B"/>
                </a:solidFill>
                <a:latin typeface="Arial" pitchFamily="34" charset="0"/>
                <a:ea typeface="Arial" pitchFamily="34" charset="-122"/>
                <a:cs typeface="Arial" pitchFamily="34" charset="-120"/>
              </a:rPr>
              <a:t>• Substantial cost reduction per kilogram to orbit</a:t>
            </a:r>
            <a:endParaRPr lang="en-US" sz="2200" dirty="0"/>
          </a:p>
        </p:txBody>
      </p:sp>
      <p:sp>
        <p:nvSpPr>
          <p:cNvPr id="15" name="Text 13"/>
          <p:cNvSpPr/>
          <p:nvPr/>
        </p:nvSpPr>
        <p:spPr>
          <a:xfrm>
            <a:off x="6278880" y="5394960"/>
            <a:ext cx="5254752" cy="804672"/>
          </a:xfrm>
          <a:prstGeom prst="rect">
            <a:avLst/>
          </a:prstGeom>
          <a:noFill/>
          <a:ln/>
        </p:spPr>
        <p:txBody>
          <a:bodyPr wrap="square" lIns="0" tIns="0" rIns="0" bIns="0" rtlCol="0" anchor="t"/>
          <a:lstStyle/>
          <a:p>
            <a:pPr indent="0" marL="0">
              <a:buNone/>
            </a:pPr>
            <a:r>
              <a:rPr lang="en-US" sz="2200" dirty="0">
                <a:solidFill>
                  <a:srgbClr val="18212B"/>
                </a:solidFill>
                <a:latin typeface="Arial" pitchFamily="34" charset="0"/>
                <a:ea typeface="Arial" pitchFamily="34" charset="-122"/>
                <a:cs typeface="Arial" pitchFamily="34" charset="-120"/>
              </a:rPr>
              <a:t>• Higher launch cadence supports heavy infrastructure</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1167872" y="6446520"/>
            <a:ext cx="365760" cy="228600"/>
          </a:xfrm>
          <a:prstGeom prst="rect">
            <a:avLst/>
          </a:prstGeom>
          <a:noFill/>
          <a:ln/>
        </p:spPr>
        <p:txBody>
          <a:bodyPr wrap="square" lIns="0" tIns="0" rIns="0" bIns="0" rtlCol="0" anchor="t"/>
          <a:lstStyle/>
          <a:p>
            <a:pPr algn="r" indent="0" marL="0">
              <a:buNone/>
            </a:pPr>
            <a:r>
              <a:rPr lang="en-US" sz="1200" dirty="0">
                <a:solidFill>
                  <a:srgbClr val="65717D"/>
                </a:solidFill>
                <a:latin typeface="Arial" pitchFamily="34" charset="0"/>
                <a:ea typeface="Arial" pitchFamily="34" charset="-122"/>
                <a:cs typeface="Arial" pitchFamily="34" charset="-120"/>
              </a:rPr>
              <a:t>5</a:t>
            </a:r>
            <a:endParaRPr lang="en-US" sz="1200" dirty="0"/>
          </a:p>
        </p:txBody>
      </p:sp>
      <p:sp>
        <p:nvSpPr>
          <p:cNvPr id="3" name="Text 1"/>
          <p:cNvSpPr/>
          <p:nvPr/>
        </p:nvSpPr>
        <p:spPr>
          <a:xfrm>
            <a:off x="658368" y="384048"/>
            <a:ext cx="10875264" cy="1097280"/>
          </a:xfrm>
          <a:prstGeom prst="rect">
            <a:avLst/>
          </a:prstGeom>
          <a:noFill/>
          <a:ln/>
        </p:spPr>
        <p:txBody>
          <a:bodyPr wrap="square" lIns="0" tIns="0" rIns="0" bIns="0" rtlCol="0" anchor="t"/>
          <a:lstStyle/>
          <a:p>
            <a:pPr indent="0" marL="0">
              <a:buNone/>
            </a:pPr>
            <a:r>
              <a:rPr lang="en-US" sz="3400" b="1" dirty="0">
                <a:solidFill>
                  <a:srgbClr val="18212B"/>
                </a:solidFill>
                <a:latin typeface="Georgia" pitchFamily="34" charset="0"/>
                <a:ea typeface="Georgia" pitchFamily="34" charset="-122"/>
                <a:cs typeface="Georgia" pitchFamily="34" charset="-120"/>
              </a:rPr>
              <a:t>Lunar Exploration and the Gateway</a:t>
            </a:r>
            <a:endParaRPr lang="en-US" sz="3400" dirty="0"/>
          </a:p>
        </p:txBody>
      </p:sp>
      <p:sp>
        <p:nvSpPr>
          <p:cNvPr id="4" name="Text 2"/>
          <p:cNvSpPr/>
          <p:nvPr/>
        </p:nvSpPr>
        <p:spPr>
          <a:xfrm>
            <a:off x="658368" y="1554480"/>
            <a:ext cx="10875264" cy="384048"/>
          </a:xfrm>
          <a:prstGeom prst="rect">
            <a:avLst/>
          </a:prstGeom>
          <a:noFill/>
          <a:ln/>
        </p:spPr>
        <p:txBody>
          <a:bodyPr wrap="square" lIns="0" tIns="0" rIns="0" bIns="0" rtlCol="0" anchor="t"/>
          <a:lstStyle/>
          <a:p>
            <a:pPr indent="0" marL="0">
              <a:buNone/>
            </a:pPr>
            <a:r>
              <a:rPr lang="en-US" sz="1800" dirty="0">
                <a:solidFill>
                  <a:srgbClr val="65717D"/>
                </a:solidFill>
                <a:latin typeface="Arial" pitchFamily="34" charset="0"/>
                <a:ea typeface="Arial" pitchFamily="34" charset="-122"/>
                <a:cs typeface="Arial" pitchFamily="34" charset="-120"/>
              </a:rPr>
              <a:t>Establishing sustainable lunar infrastructure under the Artemis program</a:t>
            </a:r>
            <a:endParaRPr lang="en-US" sz="1800" dirty="0"/>
          </a:p>
        </p:txBody>
      </p:sp>
      <p:sp>
        <p:nvSpPr>
          <p:cNvPr id="5" name="Shape 3"/>
          <p:cNvSpPr/>
          <p:nvPr/>
        </p:nvSpPr>
        <p:spPr>
          <a:xfrm>
            <a:off x="658368" y="1984248"/>
            <a:ext cx="594360" cy="41148"/>
          </a:xfrm>
          <a:prstGeom prst="rect">
            <a:avLst/>
          </a:prstGeom>
          <a:solidFill>
            <a:srgbClr val="A66A3F"/>
          </a:solidFill>
          <a:ln w="12700">
            <a:solidFill>
              <a:srgbClr val="A66A3F">
                <a:alpha val="0"/>
              </a:srgbClr>
            </a:solidFill>
            <a:prstDash val="solid"/>
          </a:ln>
        </p:spPr>
      </p:sp>
      <p:sp>
        <p:nvSpPr>
          <p:cNvPr id="6" name="Text 4"/>
          <p:cNvSpPr/>
          <p:nvPr/>
        </p:nvSpPr>
        <p:spPr>
          <a:xfrm>
            <a:off x="658368" y="2331720"/>
            <a:ext cx="4663440" cy="3611880"/>
          </a:xfrm>
          <a:prstGeom prst="rect">
            <a:avLst/>
          </a:prstGeom>
          <a:noFill/>
          <a:ln/>
        </p:spPr>
        <p:txBody>
          <a:bodyPr wrap="square" lIns="0" tIns="0" rIns="0" bIns="0" rtlCol="0" anchor="t"/>
          <a:lstStyle/>
          <a:p>
            <a:pPr indent="0" marL="0">
              <a:buNone/>
            </a:pPr>
            <a:r>
              <a:rPr lang="en-US" sz="2200" dirty="0">
                <a:solidFill>
                  <a:srgbClr val="18212B"/>
                </a:solidFill>
                <a:latin typeface="Arial" pitchFamily="34" charset="0"/>
                <a:ea typeface="Arial" pitchFamily="34" charset="-122"/>
                <a:cs typeface="Arial" pitchFamily="34" charset="-120"/>
              </a:rPr>
              <a:t>Lunar south pole missions target ice deposits in shadowed craters. The Gateway orbital station serves as a staging hub to test life support and surface habitation, validating operational systems for future Mars architectures.</a:t>
            </a:r>
            <a:endParaRPr lang="en-US" sz="2200" dirty="0"/>
          </a:p>
        </p:txBody>
      </p:sp>
      <p:sp>
        <p:nvSpPr>
          <p:cNvPr id="7" name="Shape 5"/>
          <p:cNvSpPr/>
          <p:nvPr/>
        </p:nvSpPr>
        <p:spPr>
          <a:xfrm>
            <a:off x="9589770" y="2531059"/>
            <a:ext cx="0" cy="891540"/>
          </a:xfrm>
          <a:prstGeom prst="line">
            <a:avLst/>
          </a:prstGeom>
          <a:noFill/>
          <a:ln w="17780">
            <a:solidFill>
              <a:srgbClr val="A66A3F"/>
            </a:solidFill>
            <a:prstDash val="solid"/>
            <a:tailEnd type="triangle"/>
          </a:ln>
        </p:spPr>
      </p:sp>
      <p:sp>
        <p:nvSpPr>
          <p:cNvPr id="8" name="Text 6"/>
          <p:cNvSpPr/>
          <p:nvPr/>
        </p:nvSpPr>
        <p:spPr>
          <a:xfrm>
            <a:off x="9781794" y="2638044"/>
            <a:ext cx="1739646" cy="640080"/>
          </a:xfrm>
          <a:prstGeom prst="rect">
            <a:avLst/>
          </a:prstGeom>
          <a:noFill/>
          <a:ln/>
        </p:spPr>
        <p:txBody>
          <a:bodyPr wrap="square" lIns="0" tIns="0" rIns="0" bIns="0" rtlCol="0" anchor="ctr"/>
          <a:lstStyle/>
          <a:p>
            <a:pPr indent="0" marL="0">
              <a:buNone/>
            </a:pPr>
            <a:r>
              <a:rPr lang="en-US" sz="1800" dirty="0">
                <a:solidFill>
                  <a:srgbClr val="18212B"/>
                </a:solidFill>
                <a:latin typeface="Arial" pitchFamily="34" charset="0"/>
                <a:ea typeface="Arial" pitchFamily="34" charset="-122"/>
                <a:cs typeface="Arial" pitchFamily="34" charset="-120"/>
              </a:rPr>
              <a:t>Lunar transit</a:t>
            </a:r>
            <a:endParaRPr lang="en-US" sz="1800" dirty="0"/>
          </a:p>
        </p:txBody>
      </p:sp>
      <p:sp>
        <p:nvSpPr>
          <p:cNvPr id="9" name="Shape 7"/>
          <p:cNvSpPr/>
          <p:nvPr/>
        </p:nvSpPr>
        <p:spPr>
          <a:xfrm>
            <a:off x="9589770" y="3422599"/>
            <a:ext cx="0" cy="891540"/>
          </a:xfrm>
          <a:prstGeom prst="line">
            <a:avLst/>
          </a:prstGeom>
          <a:noFill/>
          <a:ln w="17780">
            <a:solidFill>
              <a:srgbClr val="A66A3F"/>
            </a:solidFill>
            <a:prstDash val="solid"/>
            <a:tailEnd type="triangle"/>
          </a:ln>
        </p:spPr>
      </p:sp>
      <p:sp>
        <p:nvSpPr>
          <p:cNvPr id="10" name="Text 8"/>
          <p:cNvSpPr/>
          <p:nvPr/>
        </p:nvSpPr>
        <p:spPr>
          <a:xfrm>
            <a:off x="9781794" y="3529584"/>
            <a:ext cx="1739646" cy="640080"/>
          </a:xfrm>
          <a:prstGeom prst="rect">
            <a:avLst/>
          </a:prstGeom>
          <a:noFill/>
          <a:ln/>
        </p:spPr>
        <p:txBody>
          <a:bodyPr wrap="square" lIns="0" tIns="0" rIns="0" bIns="0" rtlCol="0" anchor="ctr"/>
          <a:lstStyle/>
          <a:p>
            <a:pPr indent="0" marL="0">
              <a:buNone/>
            </a:pPr>
            <a:r>
              <a:rPr lang="en-US" sz="1800" dirty="0">
                <a:solidFill>
                  <a:srgbClr val="18212B"/>
                </a:solidFill>
                <a:latin typeface="Arial" pitchFamily="34" charset="0"/>
                <a:ea typeface="Arial" pitchFamily="34" charset="-122"/>
                <a:cs typeface="Arial" pitchFamily="34" charset="-120"/>
              </a:rPr>
              <a:t>Surface descent</a:t>
            </a:r>
            <a:endParaRPr lang="en-US" sz="1800" dirty="0"/>
          </a:p>
        </p:txBody>
      </p:sp>
      <p:sp>
        <p:nvSpPr>
          <p:cNvPr id="11" name="Shape 9"/>
          <p:cNvSpPr/>
          <p:nvPr/>
        </p:nvSpPr>
        <p:spPr>
          <a:xfrm>
            <a:off x="9589770" y="4314139"/>
            <a:ext cx="0" cy="891540"/>
          </a:xfrm>
          <a:prstGeom prst="line">
            <a:avLst/>
          </a:prstGeom>
          <a:noFill/>
          <a:ln w="17780">
            <a:solidFill>
              <a:srgbClr val="A66A3F"/>
            </a:solidFill>
            <a:prstDash val="solid"/>
            <a:tailEnd type="triangle"/>
          </a:ln>
        </p:spPr>
      </p:sp>
      <p:sp>
        <p:nvSpPr>
          <p:cNvPr id="12" name="Text 10"/>
          <p:cNvSpPr/>
          <p:nvPr/>
        </p:nvSpPr>
        <p:spPr>
          <a:xfrm>
            <a:off x="9781794" y="4421124"/>
            <a:ext cx="1739646" cy="640080"/>
          </a:xfrm>
          <a:prstGeom prst="rect">
            <a:avLst/>
          </a:prstGeom>
          <a:noFill/>
          <a:ln/>
        </p:spPr>
        <p:txBody>
          <a:bodyPr wrap="square" lIns="0" tIns="0" rIns="0" bIns="0" rtlCol="0" anchor="ctr"/>
          <a:lstStyle/>
          <a:p>
            <a:pPr indent="0" marL="0">
              <a:buNone/>
            </a:pPr>
            <a:r>
              <a:rPr lang="en-US" sz="1800" dirty="0">
                <a:solidFill>
                  <a:srgbClr val="18212B"/>
                </a:solidFill>
                <a:latin typeface="Arial" pitchFamily="34" charset="0"/>
                <a:ea typeface="Arial" pitchFamily="34" charset="-122"/>
                <a:cs typeface="Arial" pitchFamily="34" charset="-120"/>
              </a:rPr>
              <a:t>System proving</a:t>
            </a:r>
            <a:endParaRPr lang="en-US" sz="1800" dirty="0"/>
          </a:p>
        </p:txBody>
      </p:sp>
      <p:sp>
        <p:nvSpPr>
          <p:cNvPr id="13" name="Shape 11"/>
          <p:cNvSpPr/>
          <p:nvPr/>
        </p:nvSpPr>
        <p:spPr>
          <a:xfrm>
            <a:off x="5897880" y="2066544"/>
            <a:ext cx="3380994" cy="0"/>
          </a:xfrm>
          <a:prstGeom prst="line">
            <a:avLst/>
          </a:prstGeom>
          <a:noFill/>
          <a:ln w="25400">
            <a:solidFill>
              <a:srgbClr val="A66A3F"/>
            </a:solidFill>
            <a:prstDash val="solid"/>
          </a:ln>
        </p:spPr>
      </p:sp>
      <p:sp>
        <p:nvSpPr>
          <p:cNvPr id="14" name="Text 12"/>
          <p:cNvSpPr/>
          <p:nvPr/>
        </p:nvSpPr>
        <p:spPr>
          <a:xfrm>
            <a:off x="5897880" y="2176272"/>
            <a:ext cx="3380994" cy="347472"/>
          </a:xfrm>
          <a:prstGeom prst="rect">
            <a:avLst/>
          </a:prstGeom>
          <a:noFill/>
          <a:ln/>
        </p:spPr>
        <p:txBody>
          <a:bodyPr wrap="square" lIns="0" tIns="0" rIns="0" bIns="0" rtlCol="0" anchor="t"/>
          <a:lstStyle/>
          <a:p>
            <a:pPr indent="0" marL="0">
              <a:buNone/>
            </a:pPr>
            <a:r>
              <a:rPr lang="en-US" sz="2100" b="1" dirty="0">
                <a:solidFill>
                  <a:srgbClr val="18212B"/>
                </a:solidFill>
                <a:latin typeface="Arial" pitchFamily="34" charset="0"/>
                <a:ea typeface="Arial" pitchFamily="34" charset="-122"/>
                <a:cs typeface="Arial" pitchFamily="34" charset="-120"/>
              </a:rPr>
              <a:t>Earth Launch</a:t>
            </a:r>
            <a:endParaRPr lang="en-US" sz="2100" dirty="0"/>
          </a:p>
        </p:txBody>
      </p:sp>
      <p:sp>
        <p:nvSpPr>
          <p:cNvPr id="15" name="Text 13"/>
          <p:cNvSpPr/>
          <p:nvPr/>
        </p:nvSpPr>
        <p:spPr>
          <a:xfrm>
            <a:off x="5897880" y="2542032"/>
            <a:ext cx="3380994" cy="361188"/>
          </a:xfrm>
          <a:prstGeom prst="rect">
            <a:avLst/>
          </a:prstGeom>
          <a:noFill/>
          <a:ln/>
        </p:spPr>
        <p:txBody>
          <a:bodyPr wrap="square" lIns="0" tIns="0" rIns="0" bIns="0" rtlCol="0" anchor="t"/>
          <a:lstStyle/>
          <a:p>
            <a:pPr indent="0" marL="0">
              <a:buNone/>
            </a:pPr>
            <a:r>
              <a:rPr lang="en-US" sz="1800" dirty="0">
                <a:solidFill>
                  <a:srgbClr val="18212B"/>
                </a:solidFill>
                <a:latin typeface="Arial" pitchFamily="34" charset="0"/>
                <a:ea typeface="Arial" pitchFamily="34" charset="-122"/>
                <a:cs typeface="Arial" pitchFamily="34" charset="-120"/>
              </a:rPr>
              <a:t>Payload and crew transport</a:t>
            </a:r>
            <a:endParaRPr lang="en-US" sz="1800" dirty="0"/>
          </a:p>
        </p:txBody>
      </p:sp>
      <p:sp>
        <p:nvSpPr>
          <p:cNvPr id="16" name="Shape 14"/>
          <p:cNvSpPr/>
          <p:nvPr/>
        </p:nvSpPr>
        <p:spPr>
          <a:xfrm>
            <a:off x="5897880" y="2958084"/>
            <a:ext cx="3380994" cy="0"/>
          </a:xfrm>
          <a:prstGeom prst="line">
            <a:avLst/>
          </a:prstGeom>
          <a:noFill/>
          <a:ln w="25400">
            <a:solidFill>
              <a:srgbClr val="A66A3F"/>
            </a:solidFill>
            <a:prstDash val="solid"/>
          </a:ln>
        </p:spPr>
      </p:sp>
      <p:sp>
        <p:nvSpPr>
          <p:cNvPr id="17" name="Text 15"/>
          <p:cNvSpPr/>
          <p:nvPr/>
        </p:nvSpPr>
        <p:spPr>
          <a:xfrm>
            <a:off x="5897880" y="3067812"/>
            <a:ext cx="3380994" cy="347472"/>
          </a:xfrm>
          <a:prstGeom prst="rect">
            <a:avLst/>
          </a:prstGeom>
          <a:noFill/>
          <a:ln/>
        </p:spPr>
        <p:txBody>
          <a:bodyPr wrap="square" lIns="0" tIns="0" rIns="0" bIns="0" rtlCol="0" anchor="t"/>
          <a:lstStyle/>
          <a:p>
            <a:pPr indent="0" marL="0">
              <a:buNone/>
            </a:pPr>
            <a:r>
              <a:rPr lang="en-US" sz="2100" b="1" dirty="0">
                <a:solidFill>
                  <a:srgbClr val="18212B"/>
                </a:solidFill>
                <a:latin typeface="Arial" pitchFamily="34" charset="0"/>
                <a:ea typeface="Arial" pitchFamily="34" charset="-122"/>
                <a:cs typeface="Arial" pitchFamily="34" charset="-120"/>
              </a:rPr>
              <a:t>Lunar Gateway</a:t>
            </a:r>
            <a:endParaRPr lang="en-US" sz="2100" dirty="0"/>
          </a:p>
        </p:txBody>
      </p:sp>
      <p:sp>
        <p:nvSpPr>
          <p:cNvPr id="18" name="Text 16"/>
          <p:cNvSpPr/>
          <p:nvPr/>
        </p:nvSpPr>
        <p:spPr>
          <a:xfrm>
            <a:off x="5897880" y="3433572"/>
            <a:ext cx="3380994" cy="361188"/>
          </a:xfrm>
          <a:prstGeom prst="rect">
            <a:avLst/>
          </a:prstGeom>
          <a:noFill/>
          <a:ln/>
        </p:spPr>
        <p:txBody>
          <a:bodyPr wrap="square" lIns="0" tIns="0" rIns="0" bIns="0" rtlCol="0" anchor="t"/>
          <a:lstStyle/>
          <a:p>
            <a:pPr indent="0" marL="0">
              <a:buNone/>
            </a:pPr>
            <a:r>
              <a:rPr lang="en-US" sz="1800" dirty="0">
                <a:solidFill>
                  <a:srgbClr val="18212B"/>
                </a:solidFill>
                <a:latin typeface="Arial" pitchFamily="34" charset="0"/>
                <a:ea typeface="Arial" pitchFamily="34" charset="-122"/>
                <a:cs typeface="Arial" pitchFamily="34" charset="-120"/>
              </a:rPr>
              <a:t>Orbital staging platform</a:t>
            </a:r>
            <a:endParaRPr lang="en-US" sz="1800" dirty="0"/>
          </a:p>
        </p:txBody>
      </p:sp>
      <p:sp>
        <p:nvSpPr>
          <p:cNvPr id="19" name="Shape 17"/>
          <p:cNvSpPr/>
          <p:nvPr/>
        </p:nvSpPr>
        <p:spPr>
          <a:xfrm>
            <a:off x="5897880" y="3849624"/>
            <a:ext cx="3380994" cy="0"/>
          </a:xfrm>
          <a:prstGeom prst="line">
            <a:avLst/>
          </a:prstGeom>
          <a:noFill/>
          <a:ln w="25400">
            <a:solidFill>
              <a:srgbClr val="A66A3F"/>
            </a:solidFill>
            <a:prstDash val="solid"/>
          </a:ln>
        </p:spPr>
      </p:sp>
      <p:sp>
        <p:nvSpPr>
          <p:cNvPr id="20" name="Text 18"/>
          <p:cNvSpPr/>
          <p:nvPr/>
        </p:nvSpPr>
        <p:spPr>
          <a:xfrm>
            <a:off x="5897880" y="3959352"/>
            <a:ext cx="3380994" cy="347472"/>
          </a:xfrm>
          <a:prstGeom prst="rect">
            <a:avLst/>
          </a:prstGeom>
          <a:noFill/>
          <a:ln/>
        </p:spPr>
        <p:txBody>
          <a:bodyPr wrap="square" lIns="0" tIns="0" rIns="0" bIns="0" rtlCol="0" anchor="t"/>
          <a:lstStyle/>
          <a:p>
            <a:pPr indent="0" marL="0">
              <a:buNone/>
            </a:pPr>
            <a:r>
              <a:rPr lang="en-US" sz="2100" b="1" dirty="0">
                <a:solidFill>
                  <a:srgbClr val="18212B"/>
                </a:solidFill>
                <a:latin typeface="Arial" pitchFamily="34" charset="0"/>
                <a:ea typeface="Arial" pitchFamily="34" charset="-122"/>
                <a:cs typeface="Arial" pitchFamily="34" charset="-120"/>
              </a:rPr>
              <a:t>South Pole Base</a:t>
            </a:r>
            <a:endParaRPr lang="en-US" sz="2100" dirty="0"/>
          </a:p>
        </p:txBody>
      </p:sp>
      <p:sp>
        <p:nvSpPr>
          <p:cNvPr id="21" name="Text 19"/>
          <p:cNvSpPr/>
          <p:nvPr/>
        </p:nvSpPr>
        <p:spPr>
          <a:xfrm>
            <a:off x="5897880" y="4325112"/>
            <a:ext cx="3380994" cy="361188"/>
          </a:xfrm>
          <a:prstGeom prst="rect">
            <a:avLst/>
          </a:prstGeom>
          <a:noFill/>
          <a:ln/>
        </p:spPr>
        <p:txBody>
          <a:bodyPr wrap="square" lIns="0" tIns="0" rIns="0" bIns="0" rtlCol="0" anchor="t"/>
          <a:lstStyle/>
          <a:p>
            <a:pPr indent="0" marL="0">
              <a:buNone/>
            </a:pPr>
            <a:r>
              <a:rPr lang="en-US" sz="1800" dirty="0">
                <a:solidFill>
                  <a:srgbClr val="18212B"/>
                </a:solidFill>
                <a:latin typeface="Arial" pitchFamily="34" charset="0"/>
                <a:ea typeface="Arial" pitchFamily="34" charset="-122"/>
                <a:cs typeface="Arial" pitchFamily="34" charset="-120"/>
              </a:rPr>
              <a:t>Habitation and ice extraction</a:t>
            </a:r>
            <a:endParaRPr lang="en-US" sz="1800" dirty="0"/>
          </a:p>
        </p:txBody>
      </p:sp>
      <p:sp>
        <p:nvSpPr>
          <p:cNvPr id="22" name="Shape 20"/>
          <p:cNvSpPr/>
          <p:nvPr/>
        </p:nvSpPr>
        <p:spPr>
          <a:xfrm>
            <a:off x="5897880" y="4741164"/>
            <a:ext cx="3380994" cy="0"/>
          </a:xfrm>
          <a:prstGeom prst="line">
            <a:avLst/>
          </a:prstGeom>
          <a:noFill/>
          <a:ln w="25400">
            <a:solidFill>
              <a:srgbClr val="A66A3F"/>
            </a:solidFill>
            <a:prstDash val="solid"/>
          </a:ln>
        </p:spPr>
      </p:sp>
      <p:sp>
        <p:nvSpPr>
          <p:cNvPr id="23" name="Text 21"/>
          <p:cNvSpPr/>
          <p:nvPr/>
        </p:nvSpPr>
        <p:spPr>
          <a:xfrm>
            <a:off x="5897880" y="4850892"/>
            <a:ext cx="3380994" cy="347472"/>
          </a:xfrm>
          <a:prstGeom prst="rect">
            <a:avLst/>
          </a:prstGeom>
          <a:noFill/>
          <a:ln/>
        </p:spPr>
        <p:txBody>
          <a:bodyPr wrap="square" lIns="0" tIns="0" rIns="0" bIns="0" rtlCol="0" anchor="t"/>
          <a:lstStyle/>
          <a:p>
            <a:pPr indent="0" marL="0">
              <a:buNone/>
            </a:pPr>
            <a:r>
              <a:rPr lang="en-US" sz="2100" b="1" dirty="0">
                <a:solidFill>
                  <a:srgbClr val="18212B"/>
                </a:solidFill>
                <a:latin typeface="Arial" pitchFamily="34" charset="0"/>
                <a:ea typeface="Arial" pitchFamily="34" charset="-122"/>
                <a:cs typeface="Arial" pitchFamily="34" charset="-120"/>
              </a:rPr>
              <a:t>Mars Missions</a:t>
            </a:r>
            <a:endParaRPr lang="en-US" sz="2100" dirty="0"/>
          </a:p>
        </p:txBody>
      </p:sp>
      <p:sp>
        <p:nvSpPr>
          <p:cNvPr id="24" name="Text 22"/>
          <p:cNvSpPr/>
          <p:nvPr/>
        </p:nvSpPr>
        <p:spPr>
          <a:xfrm>
            <a:off x="5897880" y="5216652"/>
            <a:ext cx="3380994" cy="361188"/>
          </a:xfrm>
          <a:prstGeom prst="rect">
            <a:avLst/>
          </a:prstGeom>
          <a:noFill/>
          <a:ln/>
        </p:spPr>
        <p:txBody>
          <a:bodyPr wrap="square" lIns="0" tIns="0" rIns="0" bIns="0" rtlCol="0" anchor="t"/>
          <a:lstStyle/>
          <a:p>
            <a:pPr indent="0" marL="0">
              <a:buNone/>
            </a:pPr>
            <a:r>
              <a:rPr lang="en-US" sz="1800" dirty="0">
                <a:solidFill>
                  <a:srgbClr val="18212B"/>
                </a:solidFill>
                <a:latin typeface="Arial" pitchFamily="34" charset="0"/>
                <a:ea typeface="Arial" pitchFamily="34" charset="-122"/>
                <a:cs typeface="Arial" pitchFamily="34" charset="-120"/>
              </a:rPr>
              <a:t>Deep-space validation</a:t>
            </a:r>
            <a:endParaRPr lang="en-US" sz="1800" dirty="0"/>
          </a:p>
        </p:txBody>
      </p:sp>
      <p:sp>
        <p:nvSpPr>
          <p:cNvPr id="25" name="Text 23"/>
          <p:cNvSpPr/>
          <p:nvPr/>
        </p:nvSpPr>
        <p:spPr>
          <a:xfrm>
            <a:off x="5897880" y="5806440"/>
            <a:ext cx="5623560" cy="594360"/>
          </a:xfrm>
          <a:prstGeom prst="rect">
            <a:avLst/>
          </a:prstGeom>
          <a:noFill/>
          <a:ln/>
        </p:spPr>
        <p:txBody>
          <a:bodyPr wrap="square" lIns="0" tIns="0" rIns="0" bIns="0" rtlCol="0" anchor="t"/>
          <a:lstStyle/>
          <a:p>
            <a:pPr indent="0" marL="0">
              <a:buNone/>
            </a:pPr>
            <a:r>
              <a:rPr lang="en-US" sz="1700" dirty="0">
                <a:solidFill>
                  <a:srgbClr val="65717D"/>
                </a:solidFill>
                <a:latin typeface="Arial" pitchFamily="34" charset="0"/>
                <a:ea typeface="Arial" pitchFamily="34" charset="-122"/>
                <a:cs typeface="Arial" pitchFamily="34" charset="-120"/>
              </a:rPr>
              <a:t>Simplified schematic of lunar staging operations validating technologies for deep-space missions.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1167872" y="6446520"/>
            <a:ext cx="365760" cy="228600"/>
          </a:xfrm>
          <a:prstGeom prst="rect">
            <a:avLst/>
          </a:prstGeom>
          <a:noFill/>
          <a:ln/>
        </p:spPr>
        <p:txBody>
          <a:bodyPr wrap="square" lIns="0" tIns="0" rIns="0" bIns="0" rtlCol="0" anchor="t"/>
          <a:lstStyle/>
          <a:p>
            <a:pPr algn="r" indent="0" marL="0">
              <a:buNone/>
            </a:pPr>
            <a:r>
              <a:rPr lang="en-US" sz="1200" dirty="0">
                <a:solidFill>
                  <a:srgbClr val="65717D"/>
                </a:solidFill>
                <a:latin typeface="Arial" pitchFamily="34" charset="0"/>
                <a:ea typeface="Arial" pitchFamily="34" charset="-122"/>
                <a:cs typeface="Arial" pitchFamily="34" charset="-120"/>
              </a:rPr>
              <a:t>6</a:t>
            </a:r>
            <a:endParaRPr lang="en-US" sz="1200" dirty="0"/>
          </a:p>
        </p:txBody>
      </p:sp>
      <p:sp>
        <p:nvSpPr>
          <p:cNvPr id="3" name="Text 1"/>
          <p:cNvSpPr/>
          <p:nvPr/>
        </p:nvSpPr>
        <p:spPr>
          <a:xfrm>
            <a:off x="658368" y="384048"/>
            <a:ext cx="10875264" cy="1097280"/>
          </a:xfrm>
          <a:prstGeom prst="rect">
            <a:avLst/>
          </a:prstGeom>
          <a:noFill/>
          <a:ln/>
        </p:spPr>
        <p:txBody>
          <a:bodyPr wrap="square" lIns="0" tIns="0" rIns="0" bIns="0" rtlCol="0" anchor="t"/>
          <a:lstStyle/>
          <a:p>
            <a:pPr indent="0" marL="0">
              <a:buNone/>
            </a:pPr>
            <a:r>
              <a:rPr lang="en-US" sz="3400" b="1" dirty="0">
                <a:solidFill>
                  <a:srgbClr val="18212B"/>
                </a:solidFill>
                <a:latin typeface="Georgia" pitchFamily="34" charset="0"/>
                <a:ea typeface="Georgia" pitchFamily="34" charset="-122"/>
                <a:cs typeface="Georgia" pitchFamily="34" charset="-120"/>
              </a:rPr>
              <a:t>Mars Surface Science and Robotic Precursors</a:t>
            </a:r>
            <a:endParaRPr lang="en-US" sz="3400" dirty="0"/>
          </a:p>
        </p:txBody>
      </p:sp>
      <p:sp>
        <p:nvSpPr>
          <p:cNvPr id="4" name="Text 2"/>
          <p:cNvSpPr/>
          <p:nvPr/>
        </p:nvSpPr>
        <p:spPr>
          <a:xfrm>
            <a:off x="658368" y="1554480"/>
            <a:ext cx="10875264" cy="384048"/>
          </a:xfrm>
          <a:prstGeom prst="rect">
            <a:avLst/>
          </a:prstGeom>
          <a:noFill/>
          <a:ln/>
        </p:spPr>
        <p:txBody>
          <a:bodyPr wrap="square" lIns="0" tIns="0" rIns="0" bIns="0" rtlCol="0" anchor="t"/>
          <a:lstStyle/>
          <a:p>
            <a:pPr indent="0" marL="0">
              <a:buNone/>
            </a:pPr>
            <a:r>
              <a:rPr lang="en-US" sz="1800" dirty="0">
                <a:solidFill>
                  <a:srgbClr val="65717D"/>
                </a:solidFill>
                <a:latin typeface="Arial" pitchFamily="34" charset="0"/>
                <a:ea typeface="Arial" pitchFamily="34" charset="-122"/>
                <a:cs typeface="Arial" pitchFamily="34" charset="-120"/>
              </a:rPr>
              <a:t>Decades of mobile in-situ geological and atmospheric investigation</a:t>
            </a:r>
            <a:endParaRPr lang="en-US" sz="1800" dirty="0"/>
          </a:p>
        </p:txBody>
      </p:sp>
      <p:sp>
        <p:nvSpPr>
          <p:cNvPr id="5" name="Shape 3"/>
          <p:cNvSpPr/>
          <p:nvPr/>
        </p:nvSpPr>
        <p:spPr>
          <a:xfrm>
            <a:off x="658368" y="1984248"/>
            <a:ext cx="594360" cy="41148"/>
          </a:xfrm>
          <a:prstGeom prst="rect">
            <a:avLst/>
          </a:prstGeom>
          <a:solidFill>
            <a:srgbClr val="A66A3F"/>
          </a:solidFill>
          <a:ln w="12700">
            <a:solidFill>
              <a:srgbClr val="A66A3F">
                <a:alpha val="0"/>
              </a:srgbClr>
            </a:solidFill>
            <a:prstDash val="solid"/>
          </a:ln>
        </p:spPr>
      </p:sp>
      <p:sp>
        <p:nvSpPr>
          <p:cNvPr id="6" name="Shape 4"/>
          <p:cNvSpPr/>
          <p:nvPr/>
        </p:nvSpPr>
        <p:spPr>
          <a:xfrm>
            <a:off x="658368" y="2194560"/>
            <a:ext cx="3430016" cy="2743200"/>
          </a:xfrm>
          <a:prstGeom prst="rect">
            <a:avLst/>
          </a:prstGeom>
          <a:solidFill>
            <a:srgbClr val="FFFFFF"/>
          </a:solidFill>
          <a:ln w="12700">
            <a:solidFill>
              <a:srgbClr val="FFFFFF">
                <a:alpha val="0"/>
              </a:srgbClr>
            </a:solidFill>
            <a:prstDash val="solid"/>
          </a:ln>
        </p:spPr>
      </p:sp>
      <p:sp>
        <p:nvSpPr>
          <p:cNvPr id="7" name="Text 5"/>
          <p:cNvSpPr/>
          <p:nvPr/>
        </p:nvSpPr>
        <p:spPr>
          <a:xfrm>
            <a:off x="859536" y="2267712"/>
            <a:ext cx="3027680" cy="777240"/>
          </a:xfrm>
          <a:prstGeom prst="rect">
            <a:avLst/>
          </a:prstGeom>
          <a:noFill/>
          <a:ln/>
        </p:spPr>
        <p:txBody>
          <a:bodyPr wrap="square" lIns="0" tIns="0" rIns="0" bIns="0" rtlCol="0" anchor="t"/>
          <a:lstStyle/>
          <a:p>
            <a:pPr indent="0" marL="0">
              <a:buNone/>
            </a:pPr>
            <a:r>
              <a:rPr lang="en-US" sz="2400" b="1" dirty="0">
                <a:solidFill>
                  <a:srgbClr val="18212B"/>
                </a:solidFill>
                <a:latin typeface="Arial" pitchFamily="34" charset="0"/>
                <a:ea typeface="Arial" pitchFamily="34" charset="-122"/>
                <a:cs typeface="Arial" pitchFamily="34" charset="-120"/>
              </a:rPr>
              <a:t>Ancient Water Evidence</a:t>
            </a:r>
            <a:endParaRPr lang="en-US" sz="2400" dirty="0"/>
          </a:p>
        </p:txBody>
      </p:sp>
      <p:sp>
        <p:nvSpPr>
          <p:cNvPr id="8" name="Text 6"/>
          <p:cNvSpPr/>
          <p:nvPr/>
        </p:nvSpPr>
        <p:spPr>
          <a:xfrm>
            <a:off x="859536" y="3127248"/>
            <a:ext cx="3027680" cy="1792224"/>
          </a:xfrm>
          <a:prstGeom prst="rect">
            <a:avLst/>
          </a:prstGeom>
          <a:noFill/>
          <a:ln/>
        </p:spPr>
        <p:txBody>
          <a:bodyPr wrap="square" lIns="0" tIns="0" rIns="0" bIns="0" rtlCol="0" anchor="t"/>
          <a:lstStyle/>
          <a:p>
            <a:pPr indent="0" marL="0">
              <a:buNone/>
            </a:pPr>
            <a:r>
              <a:rPr lang="en-US" sz="2000" dirty="0">
                <a:solidFill>
                  <a:srgbClr val="65717D"/>
                </a:solidFill>
                <a:latin typeface="Arial" pitchFamily="34" charset="0"/>
                <a:ea typeface="Arial" pitchFamily="34" charset="-122"/>
                <a:cs typeface="Arial" pitchFamily="34" charset="-120"/>
              </a:rPr>
              <a:t>Sedimentary stratigraphy confirms historic liquid water flow across Martian basins.</a:t>
            </a:r>
            <a:endParaRPr lang="en-US" sz="2000" dirty="0"/>
          </a:p>
        </p:txBody>
      </p:sp>
      <p:sp>
        <p:nvSpPr>
          <p:cNvPr id="9" name="Shape 7"/>
          <p:cNvSpPr/>
          <p:nvPr/>
        </p:nvSpPr>
        <p:spPr>
          <a:xfrm>
            <a:off x="4380992" y="2194560"/>
            <a:ext cx="3430016" cy="2743200"/>
          </a:xfrm>
          <a:prstGeom prst="rect">
            <a:avLst/>
          </a:prstGeom>
          <a:solidFill>
            <a:srgbClr val="FFFFFF"/>
          </a:solidFill>
          <a:ln w="12700">
            <a:solidFill>
              <a:srgbClr val="FFFFFF">
                <a:alpha val="0"/>
              </a:srgbClr>
            </a:solidFill>
            <a:prstDash val="solid"/>
          </a:ln>
        </p:spPr>
      </p:sp>
      <p:sp>
        <p:nvSpPr>
          <p:cNvPr id="10" name="Text 8"/>
          <p:cNvSpPr/>
          <p:nvPr/>
        </p:nvSpPr>
        <p:spPr>
          <a:xfrm>
            <a:off x="4582160" y="2267712"/>
            <a:ext cx="3027680" cy="777240"/>
          </a:xfrm>
          <a:prstGeom prst="rect">
            <a:avLst/>
          </a:prstGeom>
          <a:noFill/>
          <a:ln/>
        </p:spPr>
        <p:txBody>
          <a:bodyPr wrap="square" lIns="0" tIns="0" rIns="0" bIns="0" rtlCol="0" anchor="t"/>
          <a:lstStyle/>
          <a:p>
            <a:pPr indent="0" marL="0">
              <a:buNone/>
            </a:pPr>
            <a:r>
              <a:rPr lang="en-US" sz="2400" b="1" dirty="0">
                <a:solidFill>
                  <a:srgbClr val="18212B"/>
                </a:solidFill>
                <a:latin typeface="Arial" pitchFamily="34" charset="0"/>
                <a:ea typeface="Arial" pitchFamily="34" charset="-122"/>
                <a:cs typeface="Arial" pitchFamily="34" charset="-120"/>
              </a:rPr>
              <a:t>Biosignatures &amp; Caching</a:t>
            </a:r>
            <a:endParaRPr lang="en-US" sz="2400" dirty="0"/>
          </a:p>
        </p:txBody>
      </p:sp>
      <p:sp>
        <p:nvSpPr>
          <p:cNvPr id="11" name="Text 9"/>
          <p:cNvSpPr/>
          <p:nvPr/>
        </p:nvSpPr>
        <p:spPr>
          <a:xfrm>
            <a:off x="4582160" y="3127248"/>
            <a:ext cx="3027680" cy="1792224"/>
          </a:xfrm>
          <a:prstGeom prst="rect">
            <a:avLst/>
          </a:prstGeom>
          <a:noFill/>
          <a:ln/>
        </p:spPr>
        <p:txBody>
          <a:bodyPr wrap="square" lIns="0" tIns="0" rIns="0" bIns="0" rtlCol="0" anchor="t"/>
          <a:lstStyle/>
          <a:p>
            <a:pPr indent="0" marL="0">
              <a:buNone/>
            </a:pPr>
            <a:r>
              <a:rPr lang="en-US" sz="2000" dirty="0">
                <a:solidFill>
                  <a:srgbClr val="65717D"/>
                </a:solidFill>
                <a:latin typeface="Arial" pitchFamily="34" charset="0"/>
                <a:ea typeface="Arial" pitchFamily="34" charset="-122"/>
                <a:cs typeface="Arial" pitchFamily="34" charset="-120"/>
              </a:rPr>
              <a:t>Rovers analyze organic molecules and cache core samples for future retrieval.</a:t>
            </a:r>
            <a:endParaRPr lang="en-US" sz="2000" dirty="0"/>
          </a:p>
        </p:txBody>
      </p:sp>
      <p:sp>
        <p:nvSpPr>
          <p:cNvPr id="12" name="Shape 10"/>
          <p:cNvSpPr/>
          <p:nvPr/>
        </p:nvSpPr>
        <p:spPr>
          <a:xfrm>
            <a:off x="8103616" y="2194560"/>
            <a:ext cx="3430016" cy="2743200"/>
          </a:xfrm>
          <a:prstGeom prst="rect">
            <a:avLst/>
          </a:prstGeom>
          <a:solidFill>
            <a:srgbClr val="FFFFFF"/>
          </a:solidFill>
          <a:ln w="12700">
            <a:solidFill>
              <a:srgbClr val="FFFFFF">
                <a:alpha val="0"/>
              </a:srgbClr>
            </a:solidFill>
            <a:prstDash val="solid"/>
          </a:ln>
        </p:spPr>
      </p:sp>
      <p:sp>
        <p:nvSpPr>
          <p:cNvPr id="13" name="Text 11"/>
          <p:cNvSpPr/>
          <p:nvPr/>
        </p:nvSpPr>
        <p:spPr>
          <a:xfrm>
            <a:off x="8304784" y="2267712"/>
            <a:ext cx="3027680" cy="777240"/>
          </a:xfrm>
          <a:prstGeom prst="rect">
            <a:avLst/>
          </a:prstGeom>
          <a:noFill/>
          <a:ln/>
        </p:spPr>
        <p:txBody>
          <a:bodyPr wrap="square" lIns="0" tIns="0" rIns="0" bIns="0" rtlCol="0" anchor="t"/>
          <a:lstStyle/>
          <a:p>
            <a:pPr indent="0" marL="0">
              <a:buNone/>
            </a:pPr>
            <a:r>
              <a:rPr lang="en-US" sz="2400" b="1" dirty="0">
                <a:solidFill>
                  <a:srgbClr val="18212B"/>
                </a:solidFill>
                <a:latin typeface="Arial" pitchFamily="34" charset="0"/>
                <a:ea typeface="Arial" pitchFamily="34" charset="-122"/>
                <a:cs typeface="Arial" pitchFamily="34" charset="-120"/>
              </a:rPr>
              <a:t>Autonomous Operations</a:t>
            </a:r>
            <a:endParaRPr lang="en-US" sz="2400" dirty="0"/>
          </a:p>
        </p:txBody>
      </p:sp>
      <p:sp>
        <p:nvSpPr>
          <p:cNvPr id="14" name="Text 12"/>
          <p:cNvSpPr/>
          <p:nvPr/>
        </p:nvSpPr>
        <p:spPr>
          <a:xfrm>
            <a:off x="8304784" y="3127248"/>
            <a:ext cx="3027680" cy="1792224"/>
          </a:xfrm>
          <a:prstGeom prst="rect">
            <a:avLst/>
          </a:prstGeom>
          <a:noFill/>
          <a:ln/>
        </p:spPr>
        <p:txBody>
          <a:bodyPr wrap="square" lIns="0" tIns="0" rIns="0" bIns="0" rtlCol="0" anchor="t"/>
          <a:lstStyle/>
          <a:p>
            <a:pPr indent="0" marL="0">
              <a:buNone/>
            </a:pPr>
            <a:r>
              <a:rPr lang="en-US" sz="2000" dirty="0">
                <a:solidFill>
                  <a:srgbClr val="65717D"/>
                </a:solidFill>
                <a:latin typeface="Arial" pitchFamily="34" charset="0"/>
                <a:ea typeface="Arial" pitchFamily="34" charset="-122"/>
                <a:cs typeface="Arial" pitchFamily="34" charset="-120"/>
              </a:rPr>
              <a:t>Terrain navigation and aerial flight prove technologies for future exploration.</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1167872" y="6446520"/>
            <a:ext cx="365760" cy="228600"/>
          </a:xfrm>
          <a:prstGeom prst="rect">
            <a:avLst/>
          </a:prstGeom>
          <a:noFill/>
          <a:ln/>
        </p:spPr>
        <p:txBody>
          <a:bodyPr wrap="square" lIns="0" tIns="0" rIns="0" bIns="0" rtlCol="0" anchor="t"/>
          <a:lstStyle/>
          <a:p>
            <a:pPr algn="r" indent="0" marL="0">
              <a:buNone/>
            </a:pPr>
            <a:r>
              <a:rPr lang="en-US" sz="1200" dirty="0">
                <a:solidFill>
                  <a:srgbClr val="65717D"/>
                </a:solidFill>
                <a:latin typeface="Arial" pitchFamily="34" charset="0"/>
                <a:ea typeface="Arial" pitchFamily="34" charset="-122"/>
                <a:cs typeface="Arial" pitchFamily="34" charset="-120"/>
              </a:rPr>
              <a:t>7</a:t>
            </a:r>
            <a:endParaRPr lang="en-US" sz="1200" dirty="0"/>
          </a:p>
        </p:txBody>
      </p:sp>
      <p:sp>
        <p:nvSpPr>
          <p:cNvPr id="3" name="Text 1"/>
          <p:cNvSpPr/>
          <p:nvPr/>
        </p:nvSpPr>
        <p:spPr>
          <a:xfrm>
            <a:off x="658368" y="384048"/>
            <a:ext cx="10875264" cy="1097280"/>
          </a:xfrm>
          <a:prstGeom prst="rect">
            <a:avLst/>
          </a:prstGeom>
          <a:noFill/>
          <a:ln/>
        </p:spPr>
        <p:txBody>
          <a:bodyPr wrap="square" lIns="0" tIns="0" rIns="0" bIns="0" rtlCol="0" anchor="t"/>
          <a:lstStyle/>
          <a:p>
            <a:pPr indent="0" marL="0">
              <a:buNone/>
            </a:pPr>
            <a:r>
              <a:rPr lang="en-US" sz="3400" b="1" dirty="0">
                <a:solidFill>
                  <a:srgbClr val="18212B"/>
                </a:solidFill>
                <a:latin typeface="Georgia" pitchFamily="34" charset="0"/>
                <a:ea typeface="Georgia" pitchFamily="34" charset="-122"/>
                <a:cs typeface="Georgia" pitchFamily="34" charset="-120"/>
              </a:rPr>
              <a:t>Technologies for Human Missions to Mars</a:t>
            </a:r>
            <a:endParaRPr lang="en-US" sz="3400" dirty="0"/>
          </a:p>
        </p:txBody>
      </p:sp>
      <p:sp>
        <p:nvSpPr>
          <p:cNvPr id="4" name="Text 2"/>
          <p:cNvSpPr/>
          <p:nvPr/>
        </p:nvSpPr>
        <p:spPr>
          <a:xfrm>
            <a:off x="658368" y="1554480"/>
            <a:ext cx="10875264" cy="384048"/>
          </a:xfrm>
          <a:prstGeom prst="rect">
            <a:avLst/>
          </a:prstGeom>
          <a:noFill/>
          <a:ln/>
        </p:spPr>
        <p:txBody>
          <a:bodyPr wrap="square" lIns="0" tIns="0" rIns="0" bIns="0" rtlCol="0" anchor="t"/>
          <a:lstStyle/>
          <a:p>
            <a:pPr indent="0" marL="0">
              <a:buNone/>
            </a:pPr>
            <a:r>
              <a:rPr lang="en-US" sz="1800" dirty="0">
                <a:solidFill>
                  <a:srgbClr val="65717D"/>
                </a:solidFill>
                <a:latin typeface="Arial" pitchFamily="34" charset="0"/>
                <a:ea typeface="Arial" pitchFamily="34" charset="-122"/>
                <a:cs typeface="Arial" pitchFamily="34" charset="-120"/>
              </a:rPr>
              <a:t>Critical engineering systems required for crewed transit and surface stay</a:t>
            </a:r>
            <a:endParaRPr lang="en-US" sz="1800" dirty="0"/>
          </a:p>
        </p:txBody>
      </p:sp>
      <p:sp>
        <p:nvSpPr>
          <p:cNvPr id="5" name="Shape 3"/>
          <p:cNvSpPr/>
          <p:nvPr/>
        </p:nvSpPr>
        <p:spPr>
          <a:xfrm>
            <a:off x="658368" y="1984248"/>
            <a:ext cx="594360" cy="41148"/>
          </a:xfrm>
          <a:prstGeom prst="rect">
            <a:avLst/>
          </a:prstGeom>
          <a:solidFill>
            <a:srgbClr val="A66A3F"/>
          </a:solidFill>
          <a:ln w="12700">
            <a:solidFill>
              <a:srgbClr val="A66A3F">
                <a:alpha val="0"/>
              </a:srgbClr>
            </a:solidFill>
            <a:prstDash val="solid"/>
          </a:ln>
        </p:spPr>
      </p:sp>
      <p:sp>
        <p:nvSpPr>
          <p:cNvPr id="6" name="Text 4"/>
          <p:cNvSpPr/>
          <p:nvPr/>
        </p:nvSpPr>
        <p:spPr>
          <a:xfrm>
            <a:off x="658368" y="2267712"/>
            <a:ext cx="5291328" cy="777240"/>
          </a:xfrm>
          <a:prstGeom prst="rect">
            <a:avLst/>
          </a:prstGeom>
          <a:noFill/>
          <a:ln/>
        </p:spPr>
        <p:txBody>
          <a:bodyPr wrap="square" lIns="0" tIns="0" rIns="0" bIns="0" rtlCol="0" anchor="t"/>
          <a:lstStyle/>
          <a:p>
            <a:pPr indent="0" marL="0">
              <a:buNone/>
            </a:pPr>
            <a:r>
              <a:rPr lang="en-US" sz="2400" b="1" dirty="0">
                <a:solidFill>
                  <a:srgbClr val="18212B"/>
                </a:solidFill>
                <a:latin typeface="Arial" pitchFamily="34" charset="0"/>
                <a:ea typeface="Arial" pitchFamily="34" charset="-122"/>
                <a:cs typeface="Arial" pitchFamily="34" charset="-120"/>
              </a:rPr>
              <a:t>In-Situ Resource Utilization</a:t>
            </a:r>
            <a:endParaRPr lang="en-US" sz="2400" dirty="0"/>
          </a:p>
        </p:txBody>
      </p:sp>
      <p:sp>
        <p:nvSpPr>
          <p:cNvPr id="7" name="Text 5"/>
          <p:cNvSpPr/>
          <p:nvPr/>
        </p:nvSpPr>
        <p:spPr>
          <a:xfrm>
            <a:off x="658368" y="3127248"/>
            <a:ext cx="5291328" cy="996696"/>
          </a:xfrm>
          <a:prstGeom prst="rect">
            <a:avLst/>
          </a:prstGeom>
          <a:noFill/>
          <a:ln/>
        </p:spPr>
        <p:txBody>
          <a:bodyPr wrap="square" lIns="0" tIns="0" rIns="0" bIns="0" rtlCol="0" anchor="t"/>
          <a:lstStyle/>
          <a:p>
            <a:pPr indent="0" marL="0">
              <a:buNone/>
            </a:pPr>
            <a:r>
              <a:rPr lang="en-US" sz="2000" dirty="0">
                <a:solidFill>
                  <a:srgbClr val="65717D"/>
                </a:solidFill>
                <a:latin typeface="Arial" pitchFamily="34" charset="0"/>
                <a:ea typeface="Arial" pitchFamily="34" charset="-122"/>
                <a:cs typeface="Arial" pitchFamily="34" charset="-120"/>
              </a:rPr>
              <a:t>Extracts Martian atmospheric CO2 and water ice for oxygen and propellant.</a:t>
            </a:r>
            <a:endParaRPr lang="en-US" sz="2000" dirty="0"/>
          </a:p>
        </p:txBody>
      </p:sp>
      <p:sp>
        <p:nvSpPr>
          <p:cNvPr id="8" name="Text 6"/>
          <p:cNvSpPr/>
          <p:nvPr/>
        </p:nvSpPr>
        <p:spPr>
          <a:xfrm>
            <a:off x="6242304" y="2267712"/>
            <a:ext cx="5291328" cy="777240"/>
          </a:xfrm>
          <a:prstGeom prst="rect">
            <a:avLst/>
          </a:prstGeom>
          <a:noFill/>
          <a:ln/>
        </p:spPr>
        <p:txBody>
          <a:bodyPr wrap="square" lIns="0" tIns="0" rIns="0" bIns="0" rtlCol="0" anchor="t"/>
          <a:lstStyle/>
          <a:p>
            <a:pPr indent="0" marL="0">
              <a:buNone/>
            </a:pPr>
            <a:r>
              <a:rPr lang="en-US" sz="2400" b="1" dirty="0">
                <a:solidFill>
                  <a:srgbClr val="18212B"/>
                </a:solidFill>
                <a:latin typeface="Arial" pitchFamily="34" charset="0"/>
                <a:ea typeface="Arial" pitchFamily="34" charset="-122"/>
                <a:cs typeface="Arial" pitchFamily="34" charset="-120"/>
              </a:rPr>
              <a:t>Closed-Loop ECLSS</a:t>
            </a:r>
            <a:endParaRPr lang="en-US" sz="2400" dirty="0"/>
          </a:p>
        </p:txBody>
      </p:sp>
      <p:sp>
        <p:nvSpPr>
          <p:cNvPr id="9" name="Text 7"/>
          <p:cNvSpPr/>
          <p:nvPr/>
        </p:nvSpPr>
        <p:spPr>
          <a:xfrm>
            <a:off x="6242304" y="3127248"/>
            <a:ext cx="5291328" cy="996696"/>
          </a:xfrm>
          <a:prstGeom prst="rect">
            <a:avLst/>
          </a:prstGeom>
          <a:noFill/>
          <a:ln/>
        </p:spPr>
        <p:txBody>
          <a:bodyPr wrap="square" lIns="0" tIns="0" rIns="0" bIns="0" rtlCol="0" anchor="t"/>
          <a:lstStyle/>
          <a:p>
            <a:pPr indent="0" marL="0">
              <a:buNone/>
            </a:pPr>
            <a:r>
              <a:rPr lang="en-US" sz="2000" dirty="0">
                <a:solidFill>
                  <a:srgbClr val="65717D"/>
                </a:solidFill>
                <a:latin typeface="Arial" pitchFamily="34" charset="0"/>
                <a:ea typeface="Arial" pitchFamily="34" charset="-122"/>
                <a:cs typeface="Arial" pitchFamily="34" charset="-120"/>
              </a:rPr>
              <a:t>Recycles air and water at high efficiency to minimize resupply mass.</a:t>
            </a:r>
            <a:endParaRPr lang="en-US" sz="2000" dirty="0"/>
          </a:p>
        </p:txBody>
      </p:sp>
      <p:sp>
        <p:nvSpPr>
          <p:cNvPr id="10" name="Text 8"/>
          <p:cNvSpPr/>
          <p:nvPr/>
        </p:nvSpPr>
        <p:spPr>
          <a:xfrm>
            <a:off x="658368" y="4507992"/>
            <a:ext cx="5291328" cy="777240"/>
          </a:xfrm>
          <a:prstGeom prst="rect">
            <a:avLst/>
          </a:prstGeom>
          <a:noFill/>
          <a:ln/>
        </p:spPr>
        <p:txBody>
          <a:bodyPr wrap="square" lIns="0" tIns="0" rIns="0" bIns="0" rtlCol="0" anchor="t"/>
          <a:lstStyle/>
          <a:p>
            <a:pPr indent="0" marL="0">
              <a:buNone/>
            </a:pPr>
            <a:r>
              <a:rPr lang="en-US" sz="2400" b="1" dirty="0">
                <a:solidFill>
                  <a:srgbClr val="18212B"/>
                </a:solidFill>
                <a:latin typeface="Arial" pitchFamily="34" charset="0"/>
                <a:ea typeface="Arial" pitchFamily="34" charset="-122"/>
                <a:cs typeface="Arial" pitchFamily="34" charset="-120"/>
              </a:rPr>
              <a:t>Advanced Thermal Propulsion</a:t>
            </a:r>
            <a:endParaRPr lang="en-US" sz="2400" dirty="0"/>
          </a:p>
        </p:txBody>
      </p:sp>
      <p:sp>
        <p:nvSpPr>
          <p:cNvPr id="11" name="Text 9"/>
          <p:cNvSpPr/>
          <p:nvPr/>
        </p:nvSpPr>
        <p:spPr>
          <a:xfrm>
            <a:off x="658368" y="5367528"/>
            <a:ext cx="5291328" cy="996696"/>
          </a:xfrm>
          <a:prstGeom prst="rect">
            <a:avLst/>
          </a:prstGeom>
          <a:noFill/>
          <a:ln/>
        </p:spPr>
        <p:txBody>
          <a:bodyPr wrap="square" lIns="0" tIns="0" rIns="0" bIns="0" rtlCol="0" anchor="t"/>
          <a:lstStyle/>
          <a:p>
            <a:pPr indent="0" marL="0">
              <a:buNone/>
            </a:pPr>
            <a:r>
              <a:rPr lang="en-US" sz="2000" dirty="0">
                <a:solidFill>
                  <a:srgbClr val="65717D"/>
                </a:solidFill>
                <a:latin typeface="Arial" pitchFamily="34" charset="0"/>
                <a:ea typeface="Arial" pitchFamily="34" charset="-122"/>
                <a:cs typeface="Arial" pitchFamily="34" charset="-120"/>
              </a:rPr>
              <a:t>Utilizes high-efficiency nuclear or solar transit systems to reduce travel time.</a:t>
            </a:r>
            <a:endParaRPr lang="en-US" sz="2000" dirty="0"/>
          </a:p>
        </p:txBody>
      </p:sp>
      <p:sp>
        <p:nvSpPr>
          <p:cNvPr id="12" name="Text 10"/>
          <p:cNvSpPr/>
          <p:nvPr/>
        </p:nvSpPr>
        <p:spPr>
          <a:xfrm>
            <a:off x="6242304" y="4507992"/>
            <a:ext cx="5291328" cy="777240"/>
          </a:xfrm>
          <a:prstGeom prst="rect">
            <a:avLst/>
          </a:prstGeom>
          <a:noFill/>
          <a:ln/>
        </p:spPr>
        <p:txBody>
          <a:bodyPr wrap="square" lIns="0" tIns="0" rIns="0" bIns="0" rtlCol="0" anchor="t"/>
          <a:lstStyle/>
          <a:p>
            <a:pPr indent="0" marL="0">
              <a:buNone/>
            </a:pPr>
            <a:r>
              <a:rPr lang="en-US" sz="2400" b="1" dirty="0">
                <a:solidFill>
                  <a:srgbClr val="18212B"/>
                </a:solidFill>
                <a:latin typeface="Arial" pitchFamily="34" charset="0"/>
                <a:ea typeface="Arial" pitchFamily="34" charset="-122"/>
                <a:cs typeface="Arial" pitchFamily="34" charset="-120"/>
              </a:rPr>
              <a:t>Heavy-Mass Landing Systems</a:t>
            </a:r>
            <a:endParaRPr lang="en-US" sz="2400" dirty="0"/>
          </a:p>
        </p:txBody>
      </p:sp>
      <p:sp>
        <p:nvSpPr>
          <p:cNvPr id="13" name="Text 11"/>
          <p:cNvSpPr/>
          <p:nvPr/>
        </p:nvSpPr>
        <p:spPr>
          <a:xfrm>
            <a:off x="6242304" y="5367528"/>
            <a:ext cx="5291328" cy="996696"/>
          </a:xfrm>
          <a:prstGeom prst="rect">
            <a:avLst/>
          </a:prstGeom>
          <a:noFill/>
          <a:ln/>
        </p:spPr>
        <p:txBody>
          <a:bodyPr wrap="square" lIns="0" tIns="0" rIns="0" bIns="0" rtlCol="0" anchor="t"/>
          <a:lstStyle/>
          <a:p>
            <a:pPr indent="0" marL="0">
              <a:buNone/>
            </a:pPr>
            <a:r>
              <a:rPr lang="en-US" sz="2000" dirty="0">
                <a:solidFill>
                  <a:srgbClr val="65717D"/>
                </a:solidFill>
                <a:latin typeface="Arial" pitchFamily="34" charset="0"/>
                <a:ea typeface="Arial" pitchFamily="34" charset="-122"/>
                <a:cs typeface="Arial" pitchFamily="34" charset="-120"/>
              </a:rPr>
              <a:t>Employs retropropulsion and decelerators to land large payloads on Mars.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1167872" y="6446520"/>
            <a:ext cx="365760" cy="228600"/>
          </a:xfrm>
          <a:prstGeom prst="rect">
            <a:avLst/>
          </a:prstGeom>
          <a:noFill/>
          <a:ln/>
        </p:spPr>
        <p:txBody>
          <a:bodyPr wrap="square" lIns="0" tIns="0" rIns="0" bIns="0" rtlCol="0" anchor="t"/>
          <a:lstStyle/>
          <a:p>
            <a:pPr algn="r" indent="0" marL="0">
              <a:buNone/>
            </a:pPr>
            <a:r>
              <a:rPr lang="en-US" sz="1200" dirty="0">
                <a:solidFill>
                  <a:srgbClr val="65717D"/>
                </a:solidFill>
                <a:latin typeface="Arial" pitchFamily="34" charset="0"/>
                <a:ea typeface="Arial" pitchFamily="34" charset="-122"/>
                <a:cs typeface="Arial" pitchFamily="34" charset="-120"/>
              </a:rPr>
              <a:t>8</a:t>
            </a:r>
            <a:endParaRPr lang="en-US" sz="1200" dirty="0"/>
          </a:p>
        </p:txBody>
      </p:sp>
      <p:sp>
        <p:nvSpPr>
          <p:cNvPr id="3" name="Text 1"/>
          <p:cNvSpPr/>
          <p:nvPr/>
        </p:nvSpPr>
        <p:spPr>
          <a:xfrm>
            <a:off x="658368" y="384048"/>
            <a:ext cx="10875264" cy="1097280"/>
          </a:xfrm>
          <a:prstGeom prst="rect">
            <a:avLst/>
          </a:prstGeom>
          <a:noFill/>
          <a:ln/>
        </p:spPr>
        <p:txBody>
          <a:bodyPr wrap="square" lIns="0" tIns="0" rIns="0" bIns="0" rtlCol="0" anchor="t"/>
          <a:lstStyle/>
          <a:p>
            <a:pPr indent="0" marL="0">
              <a:buNone/>
            </a:pPr>
            <a:r>
              <a:rPr lang="en-US" sz="3400" b="1" dirty="0">
                <a:solidFill>
                  <a:srgbClr val="18212B"/>
                </a:solidFill>
                <a:latin typeface="Georgia" pitchFamily="34" charset="0"/>
                <a:ea typeface="Georgia" pitchFamily="34" charset="-122"/>
                <a:cs typeface="Georgia" pitchFamily="34" charset="-120"/>
              </a:rPr>
              <a:t>Physiological and Logistical Deep-Space Challenges</a:t>
            </a:r>
            <a:endParaRPr lang="en-US" sz="3400" dirty="0"/>
          </a:p>
        </p:txBody>
      </p:sp>
      <p:sp>
        <p:nvSpPr>
          <p:cNvPr id="4" name="Text 2"/>
          <p:cNvSpPr/>
          <p:nvPr/>
        </p:nvSpPr>
        <p:spPr>
          <a:xfrm>
            <a:off x="658368" y="1554480"/>
            <a:ext cx="10875264" cy="384048"/>
          </a:xfrm>
          <a:prstGeom prst="rect">
            <a:avLst/>
          </a:prstGeom>
          <a:noFill/>
          <a:ln/>
        </p:spPr>
        <p:txBody>
          <a:bodyPr wrap="square" lIns="0" tIns="0" rIns="0" bIns="0" rtlCol="0" anchor="t"/>
          <a:lstStyle/>
          <a:p>
            <a:pPr indent="0" marL="0">
              <a:buNone/>
            </a:pPr>
            <a:r>
              <a:rPr lang="en-US" sz="1800" dirty="0">
                <a:solidFill>
                  <a:srgbClr val="65717D"/>
                </a:solidFill>
                <a:latin typeface="Arial" pitchFamily="34" charset="0"/>
                <a:ea typeface="Arial" pitchFamily="34" charset="-122"/>
                <a:cs typeface="Arial" pitchFamily="34" charset="-120"/>
              </a:rPr>
              <a:t>Navigating radiation, microgravity health degradation, and communication latency</a:t>
            </a:r>
            <a:endParaRPr lang="en-US" sz="1800" dirty="0"/>
          </a:p>
        </p:txBody>
      </p:sp>
      <p:sp>
        <p:nvSpPr>
          <p:cNvPr id="5" name="Shape 3"/>
          <p:cNvSpPr/>
          <p:nvPr/>
        </p:nvSpPr>
        <p:spPr>
          <a:xfrm>
            <a:off x="658368" y="1984248"/>
            <a:ext cx="594360" cy="41148"/>
          </a:xfrm>
          <a:prstGeom prst="rect">
            <a:avLst/>
          </a:prstGeom>
          <a:solidFill>
            <a:srgbClr val="A66A3F"/>
          </a:solidFill>
          <a:ln w="12700">
            <a:solidFill>
              <a:srgbClr val="A66A3F">
                <a:alpha val="0"/>
              </a:srgbClr>
            </a:solidFill>
            <a:prstDash val="solid"/>
          </a:ln>
        </p:spPr>
      </p:sp>
      <p:sp>
        <p:nvSpPr>
          <p:cNvPr id="6" name="Text 4"/>
          <p:cNvSpPr/>
          <p:nvPr/>
        </p:nvSpPr>
        <p:spPr>
          <a:xfrm>
            <a:off x="658368" y="2377440"/>
            <a:ext cx="4114800" cy="3520440"/>
          </a:xfrm>
          <a:prstGeom prst="rect">
            <a:avLst/>
          </a:prstGeom>
          <a:noFill/>
          <a:ln/>
        </p:spPr>
        <p:txBody>
          <a:bodyPr wrap="square" lIns="0" tIns="0" rIns="0" bIns="0" rtlCol="0" anchor="t"/>
          <a:lstStyle/>
          <a:p>
            <a:pPr indent="0" marL="0">
              <a:buNone/>
            </a:pPr>
            <a:r>
              <a:rPr lang="en-US" sz="2800" b="1" dirty="0">
                <a:solidFill>
                  <a:srgbClr val="18212B"/>
                </a:solidFill>
                <a:latin typeface="Arial" pitchFamily="34" charset="0"/>
                <a:ea typeface="Arial" pitchFamily="34" charset="-122"/>
                <a:cs typeface="Arial" pitchFamily="34" charset="-120"/>
              </a:rPr>
              <a:t>Human missions beyond low Earth orbit face critical physiological and operational hazards.</a:t>
            </a:r>
            <a:endParaRPr lang="en-US" sz="2800" dirty="0"/>
          </a:p>
        </p:txBody>
      </p:sp>
      <p:sp>
        <p:nvSpPr>
          <p:cNvPr id="7" name="Text 5"/>
          <p:cNvSpPr/>
          <p:nvPr/>
        </p:nvSpPr>
        <p:spPr>
          <a:xfrm>
            <a:off x="5367528" y="2395728"/>
            <a:ext cx="6166104" cy="3520440"/>
          </a:xfrm>
          <a:prstGeom prst="rect">
            <a:avLst/>
          </a:prstGeom>
          <a:noFill/>
          <a:ln/>
        </p:spPr>
        <p:txBody>
          <a:bodyPr wrap="square" lIns="0" tIns="0" rIns="0" bIns="0" rtlCol="0" anchor="t"/>
          <a:lstStyle/>
          <a:p>
            <a:pPr indent="0" marL="0">
              <a:buNone/>
            </a:pPr>
            <a:r>
              <a:rPr lang="en-US" sz="2300" dirty="0">
                <a:solidFill>
                  <a:srgbClr val="18212B"/>
                </a:solidFill>
                <a:latin typeface="Arial" pitchFamily="34" charset="0"/>
                <a:ea typeface="Arial" pitchFamily="34" charset="-122"/>
                <a:cs typeface="Arial" pitchFamily="34" charset="-120"/>
              </a:rPr>
              <a:t>Extended exposure to galactic cosmic rays and solar particle events poses severe radiation risks requiring advanced shielding. Prolonged microgravity causes continuous bone density loss and muscle atrophy. Furthermore, signal latencies of up to twenty minutes demand complete operational autonomy from ground control.</a:t>
            </a:r>
            <a:endParaRPr lang="en-US" sz="2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1167872" y="6446520"/>
            <a:ext cx="365760" cy="228600"/>
          </a:xfrm>
          <a:prstGeom prst="rect">
            <a:avLst/>
          </a:prstGeom>
          <a:noFill/>
          <a:ln/>
        </p:spPr>
        <p:txBody>
          <a:bodyPr wrap="square" lIns="0" tIns="0" rIns="0" bIns="0" rtlCol="0" anchor="t"/>
          <a:lstStyle/>
          <a:p>
            <a:pPr algn="r" indent="0" marL="0">
              <a:buNone/>
            </a:pPr>
            <a:r>
              <a:rPr lang="en-US" sz="1200" dirty="0">
                <a:solidFill>
                  <a:srgbClr val="65717D"/>
                </a:solidFill>
                <a:latin typeface="Arial" pitchFamily="34" charset="0"/>
                <a:ea typeface="Arial" pitchFamily="34" charset="-122"/>
                <a:cs typeface="Arial" pitchFamily="34" charset="-120"/>
              </a:rPr>
              <a:t>9</a:t>
            </a:r>
            <a:endParaRPr lang="en-US" sz="1200" dirty="0"/>
          </a:p>
        </p:txBody>
      </p:sp>
      <p:sp>
        <p:nvSpPr>
          <p:cNvPr id="3" name="Text 1"/>
          <p:cNvSpPr/>
          <p:nvPr/>
        </p:nvSpPr>
        <p:spPr>
          <a:xfrm>
            <a:off x="658368" y="384048"/>
            <a:ext cx="10875264" cy="1097280"/>
          </a:xfrm>
          <a:prstGeom prst="rect">
            <a:avLst/>
          </a:prstGeom>
          <a:noFill/>
          <a:ln/>
        </p:spPr>
        <p:txBody>
          <a:bodyPr wrap="square" lIns="0" tIns="0" rIns="0" bIns="0" rtlCol="0" anchor="t"/>
          <a:lstStyle/>
          <a:p>
            <a:pPr indent="0" marL="0">
              <a:buNone/>
            </a:pPr>
            <a:r>
              <a:rPr lang="en-US" sz="3400" b="1" dirty="0">
                <a:solidFill>
                  <a:srgbClr val="18212B"/>
                </a:solidFill>
                <a:latin typeface="Georgia" pitchFamily="34" charset="0"/>
                <a:ea typeface="Georgia" pitchFamily="34" charset="-122"/>
                <a:cs typeface="Georgia" pitchFamily="34" charset="-120"/>
              </a:rPr>
              <a:t>Future Mission Horizons and Deep Space Projections</a:t>
            </a:r>
            <a:endParaRPr lang="en-US" sz="3400" dirty="0"/>
          </a:p>
        </p:txBody>
      </p:sp>
      <p:sp>
        <p:nvSpPr>
          <p:cNvPr id="4" name="Text 2"/>
          <p:cNvSpPr/>
          <p:nvPr/>
        </p:nvSpPr>
        <p:spPr>
          <a:xfrm>
            <a:off x="658368" y="1554480"/>
            <a:ext cx="10875264" cy="384048"/>
          </a:xfrm>
          <a:prstGeom prst="rect">
            <a:avLst/>
          </a:prstGeom>
          <a:noFill/>
          <a:ln/>
        </p:spPr>
        <p:txBody>
          <a:bodyPr wrap="square" lIns="0" tIns="0" rIns="0" bIns="0" rtlCol="0" anchor="t"/>
          <a:lstStyle/>
          <a:p>
            <a:pPr indent="0" marL="0">
              <a:buNone/>
            </a:pPr>
            <a:r>
              <a:rPr lang="en-US" sz="1800" dirty="0">
                <a:solidFill>
                  <a:srgbClr val="65717D"/>
                </a:solidFill>
                <a:latin typeface="Arial" pitchFamily="34" charset="0"/>
                <a:ea typeface="Arial" pitchFamily="34" charset="-122"/>
                <a:cs typeface="Arial" pitchFamily="34" charset="-120"/>
              </a:rPr>
              <a:t>Projected phases toward crewed Martian exploration and outer solar system probes</a:t>
            </a:r>
            <a:endParaRPr lang="en-US" sz="1800" dirty="0"/>
          </a:p>
        </p:txBody>
      </p:sp>
      <p:sp>
        <p:nvSpPr>
          <p:cNvPr id="5" name="Shape 3"/>
          <p:cNvSpPr/>
          <p:nvPr/>
        </p:nvSpPr>
        <p:spPr>
          <a:xfrm>
            <a:off x="658368" y="1984248"/>
            <a:ext cx="594360" cy="41148"/>
          </a:xfrm>
          <a:prstGeom prst="rect">
            <a:avLst/>
          </a:prstGeom>
          <a:solidFill>
            <a:srgbClr val="A66A3F"/>
          </a:solidFill>
          <a:ln w="12700">
            <a:solidFill>
              <a:srgbClr val="A66A3F">
                <a:alpha val="0"/>
              </a:srgbClr>
            </a:solidFill>
            <a:prstDash val="solid"/>
          </a:ln>
        </p:spPr>
      </p:sp>
      <p:sp>
        <p:nvSpPr>
          <p:cNvPr id="6" name="Text 4"/>
          <p:cNvSpPr/>
          <p:nvPr/>
        </p:nvSpPr>
        <p:spPr>
          <a:xfrm>
            <a:off x="658368" y="2194560"/>
            <a:ext cx="1874520" cy="955548"/>
          </a:xfrm>
          <a:prstGeom prst="rect">
            <a:avLst/>
          </a:prstGeom>
          <a:noFill/>
          <a:ln/>
        </p:spPr>
        <p:txBody>
          <a:bodyPr wrap="square" lIns="0" tIns="0" rIns="0" bIns="0" rtlCol="0" anchor="t"/>
          <a:lstStyle/>
          <a:p>
            <a:pPr indent="0" marL="0">
              <a:buNone/>
            </a:pPr>
            <a:r>
              <a:rPr lang="en-US" sz="2000" b="1" dirty="0">
                <a:solidFill>
                  <a:srgbClr val="A66A3F"/>
                </a:solidFill>
                <a:latin typeface="Arial" pitchFamily="34" charset="0"/>
                <a:ea typeface="Arial" pitchFamily="34" charset="-122"/>
                <a:cs typeface="Arial" pitchFamily="34" charset="-120"/>
              </a:rPr>
              <a:t>Phase 1</a:t>
            </a:r>
            <a:endParaRPr lang="en-US" sz="2000" dirty="0"/>
          </a:p>
        </p:txBody>
      </p:sp>
      <p:sp>
        <p:nvSpPr>
          <p:cNvPr id="7" name="Text 5"/>
          <p:cNvSpPr/>
          <p:nvPr/>
        </p:nvSpPr>
        <p:spPr>
          <a:xfrm>
            <a:off x="2807208" y="2194560"/>
            <a:ext cx="3108960" cy="955548"/>
          </a:xfrm>
          <a:prstGeom prst="rect">
            <a:avLst/>
          </a:prstGeom>
          <a:noFill/>
          <a:ln/>
        </p:spPr>
        <p:txBody>
          <a:bodyPr wrap="square" lIns="0" tIns="0" rIns="0" bIns="0" rtlCol="0" anchor="t"/>
          <a:lstStyle/>
          <a:p>
            <a:pPr indent="0" marL="0">
              <a:buNone/>
            </a:pPr>
            <a:r>
              <a:rPr lang="en-US" sz="2200" b="1" dirty="0">
                <a:solidFill>
                  <a:srgbClr val="18212B"/>
                </a:solidFill>
                <a:latin typeface="Arial" pitchFamily="34" charset="0"/>
                <a:ea typeface="Arial" pitchFamily="34" charset="-122"/>
                <a:cs typeface="Arial" pitchFamily="34" charset="-120"/>
              </a:rPr>
              <a:t>Mars Sample Return</a:t>
            </a:r>
            <a:endParaRPr lang="en-US" sz="2200" dirty="0"/>
          </a:p>
        </p:txBody>
      </p:sp>
      <p:sp>
        <p:nvSpPr>
          <p:cNvPr id="8" name="Text 6"/>
          <p:cNvSpPr/>
          <p:nvPr/>
        </p:nvSpPr>
        <p:spPr>
          <a:xfrm>
            <a:off x="6236208" y="2194560"/>
            <a:ext cx="5297424" cy="955548"/>
          </a:xfrm>
          <a:prstGeom prst="rect">
            <a:avLst/>
          </a:prstGeom>
          <a:noFill/>
          <a:ln/>
        </p:spPr>
        <p:txBody>
          <a:bodyPr wrap="square" lIns="0" tIns="0" rIns="0" bIns="0" rtlCol="0" anchor="t"/>
          <a:lstStyle/>
          <a:p>
            <a:pPr indent="0" marL="0">
              <a:buNone/>
            </a:pPr>
            <a:r>
              <a:rPr lang="en-US" sz="2000" dirty="0">
                <a:solidFill>
                  <a:srgbClr val="18212B"/>
                </a:solidFill>
                <a:latin typeface="Arial" pitchFamily="34" charset="0"/>
                <a:ea typeface="Arial" pitchFamily="34" charset="-122"/>
                <a:cs typeface="Arial" pitchFamily="34" charset="-120"/>
              </a:rPr>
              <a:t>Retrieve cached surface samples to analyze for potential ancient biosignatures.</a:t>
            </a:r>
            <a:endParaRPr lang="en-US" sz="2000" dirty="0"/>
          </a:p>
        </p:txBody>
      </p:sp>
      <p:sp>
        <p:nvSpPr>
          <p:cNvPr id="9" name="Text 7"/>
          <p:cNvSpPr/>
          <p:nvPr/>
        </p:nvSpPr>
        <p:spPr>
          <a:xfrm>
            <a:off x="658368" y="3241548"/>
            <a:ext cx="1874520" cy="955548"/>
          </a:xfrm>
          <a:prstGeom prst="rect">
            <a:avLst/>
          </a:prstGeom>
          <a:noFill/>
          <a:ln/>
        </p:spPr>
        <p:txBody>
          <a:bodyPr wrap="square" lIns="0" tIns="0" rIns="0" bIns="0" rtlCol="0" anchor="t"/>
          <a:lstStyle/>
          <a:p>
            <a:pPr indent="0" marL="0">
              <a:buNone/>
            </a:pPr>
            <a:r>
              <a:rPr lang="en-US" sz="2000" b="1" dirty="0">
                <a:solidFill>
                  <a:srgbClr val="A66A3F"/>
                </a:solidFill>
                <a:latin typeface="Arial" pitchFamily="34" charset="0"/>
                <a:ea typeface="Arial" pitchFamily="34" charset="-122"/>
                <a:cs typeface="Arial" pitchFamily="34" charset="-120"/>
              </a:rPr>
              <a:t>Phase 2</a:t>
            </a:r>
            <a:endParaRPr lang="en-US" sz="2000" dirty="0"/>
          </a:p>
        </p:txBody>
      </p:sp>
      <p:sp>
        <p:nvSpPr>
          <p:cNvPr id="10" name="Text 8"/>
          <p:cNvSpPr/>
          <p:nvPr/>
        </p:nvSpPr>
        <p:spPr>
          <a:xfrm>
            <a:off x="2807208" y="3241548"/>
            <a:ext cx="3108960" cy="955548"/>
          </a:xfrm>
          <a:prstGeom prst="rect">
            <a:avLst/>
          </a:prstGeom>
          <a:noFill/>
          <a:ln/>
        </p:spPr>
        <p:txBody>
          <a:bodyPr wrap="square" lIns="0" tIns="0" rIns="0" bIns="0" rtlCol="0" anchor="t"/>
          <a:lstStyle/>
          <a:p>
            <a:pPr indent="0" marL="0">
              <a:buNone/>
            </a:pPr>
            <a:r>
              <a:rPr lang="en-US" sz="2200" b="1" dirty="0">
                <a:solidFill>
                  <a:srgbClr val="18212B"/>
                </a:solidFill>
                <a:latin typeface="Arial" pitchFamily="34" charset="0"/>
                <a:ea typeface="Arial" pitchFamily="34" charset="-122"/>
                <a:cs typeface="Arial" pitchFamily="34" charset="-120"/>
              </a:rPr>
              <a:t>Lunar Staging Hub</a:t>
            </a:r>
            <a:endParaRPr lang="en-US" sz="2200" dirty="0"/>
          </a:p>
        </p:txBody>
      </p:sp>
      <p:sp>
        <p:nvSpPr>
          <p:cNvPr id="11" name="Text 9"/>
          <p:cNvSpPr/>
          <p:nvPr/>
        </p:nvSpPr>
        <p:spPr>
          <a:xfrm>
            <a:off x="6236208" y="3241548"/>
            <a:ext cx="5297424" cy="955548"/>
          </a:xfrm>
          <a:prstGeom prst="rect">
            <a:avLst/>
          </a:prstGeom>
          <a:noFill/>
          <a:ln/>
        </p:spPr>
        <p:txBody>
          <a:bodyPr wrap="square" lIns="0" tIns="0" rIns="0" bIns="0" rtlCol="0" anchor="t"/>
          <a:lstStyle/>
          <a:p>
            <a:pPr indent="0" marL="0">
              <a:buNone/>
            </a:pPr>
            <a:r>
              <a:rPr lang="en-US" sz="2000" dirty="0">
                <a:solidFill>
                  <a:srgbClr val="18212B"/>
                </a:solidFill>
                <a:latin typeface="Arial" pitchFamily="34" charset="0"/>
                <a:ea typeface="Arial" pitchFamily="34" charset="-122"/>
                <a:cs typeface="Arial" pitchFamily="34" charset="-120"/>
              </a:rPr>
              <a:t>Deploy Gateway orbital infrastructure to test deep-space crewed systems.</a:t>
            </a:r>
            <a:endParaRPr lang="en-US" sz="2000" dirty="0"/>
          </a:p>
        </p:txBody>
      </p:sp>
      <p:sp>
        <p:nvSpPr>
          <p:cNvPr id="12" name="Text 10"/>
          <p:cNvSpPr/>
          <p:nvPr/>
        </p:nvSpPr>
        <p:spPr>
          <a:xfrm>
            <a:off x="658368" y="4288536"/>
            <a:ext cx="1874520" cy="955548"/>
          </a:xfrm>
          <a:prstGeom prst="rect">
            <a:avLst/>
          </a:prstGeom>
          <a:noFill/>
          <a:ln/>
        </p:spPr>
        <p:txBody>
          <a:bodyPr wrap="square" lIns="0" tIns="0" rIns="0" bIns="0" rtlCol="0" anchor="t"/>
          <a:lstStyle/>
          <a:p>
            <a:pPr indent="0" marL="0">
              <a:buNone/>
            </a:pPr>
            <a:r>
              <a:rPr lang="en-US" sz="2000" b="1" dirty="0">
                <a:solidFill>
                  <a:srgbClr val="A66A3F"/>
                </a:solidFill>
                <a:latin typeface="Arial" pitchFamily="34" charset="0"/>
                <a:ea typeface="Arial" pitchFamily="34" charset="-122"/>
                <a:cs typeface="Arial" pitchFamily="34" charset="-120"/>
              </a:rPr>
              <a:t>Phase 3</a:t>
            </a:r>
            <a:endParaRPr lang="en-US" sz="2000" dirty="0"/>
          </a:p>
        </p:txBody>
      </p:sp>
      <p:sp>
        <p:nvSpPr>
          <p:cNvPr id="13" name="Text 11"/>
          <p:cNvSpPr/>
          <p:nvPr/>
        </p:nvSpPr>
        <p:spPr>
          <a:xfrm>
            <a:off x="2807208" y="4288536"/>
            <a:ext cx="3108960" cy="955548"/>
          </a:xfrm>
          <a:prstGeom prst="rect">
            <a:avLst/>
          </a:prstGeom>
          <a:noFill/>
          <a:ln/>
        </p:spPr>
        <p:txBody>
          <a:bodyPr wrap="square" lIns="0" tIns="0" rIns="0" bIns="0" rtlCol="0" anchor="t"/>
          <a:lstStyle/>
          <a:p>
            <a:pPr indent="0" marL="0">
              <a:buNone/>
            </a:pPr>
            <a:r>
              <a:rPr lang="en-US" sz="2200" b="1" dirty="0">
                <a:solidFill>
                  <a:srgbClr val="18212B"/>
                </a:solidFill>
                <a:latin typeface="Arial" pitchFamily="34" charset="0"/>
                <a:ea typeface="Arial" pitchFamily="34" charset="-122"/>
                <a:cs typeface="Arial" pitchFamily="34" charset="-120"/>
              </a:rPr>
              <a:t>Uncrewed Cargo Flights</a:t>
            </a:r>
            <a:endParaRPr lang="en-US" sz="2200" dirty="0"/>
          </a:p>
        </p:txBody>
      </p:sp>
      <p:sp>
        <p:nvSpPr>
          <p:cNvPr id="14" name="Text 12"/>
          <p:cNvSpPr/>
          <p:nvPr/>
        </p:nvSpPr>
        <p:spPr>
          <a:xfrm>
            <a:off x="6236208" y="4288536"/>
            <a:ext cx="5297424" cy="955548"/>
          </a:xfrm>
          <a:prstGeom prst="rect">
            <a:avLst/>
          </a:prstGeom>
          <a:noFill/>
          <a:ln/>
        </p:spPr>
        <p:txBody>
          <a:bodyPr wrap="square" lIns="0" tIns="0" rIns="0" bIns="0" rtlCol="0" anchor="t"/>
          <a:lstStyle/>
          <a:p>
            <a:pPr indent="0" marL="0">
              <a:buNone/>
            </a:pPr>
            <a:r>
              <a:rPr lang="en-US" sz="2000" dirty="0">
                <a:solidFill>
                  <a:srgbClr val="18212B"/>
                </a:solidFill>
                <a:latin typeface="Arial" pitchFamily="34" charset="0"/>
                <a:ea typeface="Arial" pitchFamily="34" charset="-122"/>
                <a:cs typeface="Arial" pitchFamily="34" charset="-120"/>
              </a:rPr>
              <a:t>Land heavy payload infrastructure and propellant production plants on Mars.</a:t>
            </a:r>
            <a:endParaRPr lang="en-US" sz="2000" dirty="0"/>
          </a:p>
        </p:txBody>
      </p:sp>
      <p:sp>
        <p:nvSpPr>
          <p:cNvPr id="15" name="Text 13"/>
          <p:cNvSpPr/>
          <p:nvPr/>
        </p:nvSpPr>
        <p:spPr>
          <a:xfrm>
            <a:off x="658368" y="5335524"/>
            <a:ext cx="1874520" cy="955548"/>
          </a:xfrm>
          <a:prstGeom prst="rect">
            <a:avLst/>
          </a:prstGeom>
          <a:noFill/>
          <a:ln/>
        </p:spPr>
        <p:txBody>
          <a:bodyPr wrap="square" lIns="0" tIns="0" rIns="0" bIns="0" rtlCol="0" anchor="t"/>
          <a:lstStyle/>
          <a:p>
            <a:pPr indent="0" marL="0">
              <a:buNone/>
            </a:pPr>
            <a:r>
              <a:rPr lang="en-US" sz="2000" b="1" dirty="0">
                <a:solidFill>
                  <a:srgbClr val="A66A3F"/>
                </a:solidFill>
                <a:latin typeface="Arial" pitchFamily="34" charset="0"/>
                <a:ea typeface="Arial" pitchFamily="34" charset="-122"/>
                <a:cs typeface="Arial" pitchFamily="34" charset="-120"/>
              </a:rPr>
              <a:t>Phase 4</a:t>
            </a:r>
            <a:endParaRPr lang="en-US" sz="2000" dirty="0"/>
          </a:p>
        </p:txBody>
      </p:sp>
      <p:sp>
        <p:nvSpPr>
          <p:cNvPr id="16" name="Text 14"/>
          <p:cNvSpPr/>
          <p:nvPr/>
        </p:nvSpPr>
        <p:spPr>
          <a:xfrm>
            <a:off x="2807208" y="5335524"/>
            <a:ext cx="3108960" cy="955548"/>
          </a:xfrm>
          <a:prstGeom prst="rect">
            <a:avLst/>
          </a:prstGeom>
          <a:noFill/>
          <a:ln/>
        </p:spPr>
        <p:txBody>
          <a:bodyPr wrap="square" lIns="0" tIns="0" rIns="0" bIns="0" rtlCol="0" anchor="t"/>
          <a:lstStyle/>
          <a:p>
            <a:pPr indent="0" marL="0">
              <a:buNone/>
            </a:pPr>
            <a:r>
              <a:rPr lang="en-US" sz="2200" b="1" dirty="0">
                <a:solidFill>
                  <a:srgbClr val="18212B"/>
                </a:solidFill>
                <a:latin typeface="Arial" pitchFamily="34" charset="0"/>
                <a:ea typeface="Arial" pitchFamily="34" charset="-122"/>
                <a:cs typeface="Arial" pitchFamily="34" charset="-120"/>
              </a:rPr>
              <a:t>Crewed Mars Transit</a:t>
            </a:r>
            <a:endParaRPr lang="en-US" sz="2200" dirty="0"/>
          </a:p>
        </p:txBody>
      </p:sp>
      <p:sp>
        <p:nvSpPr>
          <p:cNvPr id="17" name="Text 15"/>
          <p:cNvSpPr/>
          <p:nvPr/>
        </p:nvSpPr>
        <p:spPr>
          <a:xfrm>
            <a:off x="6236208" y="5335524"/>
            <a:ext cx="5297424" cy="955548"/>
          </a:xfrm>
          <a:prstGeom prst="rect">
            <a:avLst/>
          </a:prstGeom>
          <a:noFill/>
          <a:ln/>
        </p:spPr>
        <p:txBody>
          <a:bodyPr wrap="square" lIns="0" tIns="0" rIns="0" bIns="0" rtlCol="0" anchor="t"/>
          <a:lstStyle/>
          <a:p>
            <a:pPr indent="0" marL="0">
              <a:buNone/>
            </a:pPr>
            <a:r>
              <a:rPr lang="en-US" sz="2000" dirty="0">
                <a:solidFill>
                  <a:srgbClr val="18212B"/>
                </a:solidFill>
                <a:latin typeface="Arial" pitchFamily="34" charset="0"/>
                <a:ea typeface="Arial" pitchFamily="34" charset="-122"/>
                <a:cs typeface="Arial" pitchFamily="34" charset="-120"/>
              </a:rPr>
              <a:t>Execute long-duration crewed orbital insertion and surface exploration.</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11167872" y="6446520"/>
            <a:ext cx="365760" cy="228600"/>
          </a:xfrm>
          <a:prstGeom prst="rect">
            <a:avLst/>
          </a:prstGeom>
          <a:noFill/>
          <a:ln/>
        </p:spPr>
        <p:txBody>
          <a:bodyPr wrap="square" lIns="0" tIns="0" rIns="0" bIns="0" rtlCol="0" anchor="t"/>
          <a:lstStyle/>
          <a:p>
            <a:pPr algn="r" indent="0" marL="0">
              <a:buNone/>
            </a:pPr>
            <a:r>
              <a:rPr lang="en-US" sz="1200" dirty="0">
                <a:solidFill>
                  <a:srgbClr val="65717D"/>
                </a:solidFill>
                <a:latin typeface="Arial" pitchFamily="34" charset="0"/>
                <a:ea typeface="Arial" pitchFamily="34" charset="-122"/>
                <a:cs typeface="Arial" pitchFamily="34" charset="-120"/>
              </a:rPr>
              <a:t>10</a:t>
            </a:r>
            <a:endParaRPr lang="en-US" sz="1200" dirty="0"/>
          </a:p>
        </p:txBody>
      </p:sp>
      <p:sp>
        <p:nvSpPr>
          <p:cNvPr id="3" name="Text 1"/>
          <p:cNvSpPr/>
          <p:nvPr/>
        </p:nvSpPr>
        <p:spPr>
          <a:xfrm>
            <a:off x="658368" y="384048"/>
            <a:ext cx="10875264" cy="1097280"/>
          </a:xfrm>
          <a:prstGeom prst="rect">
            <a:avLst/>
          </a:prstGeom>
          <a:noFill/>
          <a:ln/>
        </p:spPr>
        <p:txBody>
          <a:bodyPr wrap="square" lIns="0" tIns="0" rIns="0" bIns="0" rtlCol="0" anchor="t"/>
          <a:lstStyle/>
          <a:p>
            <a:pPr indent="0" marL="0">
              <a:buNone/>
            </a:pPr>
            <a:r>
              <a:rPr lang="en-US" sz="3400" b="1" dirty="0">
                <a:solidFill>
                  <a:srgbClr val="18212B"/>
                </a:solidFill>
                <a:latin typeface="Georgia" pitchFamily="34" charset="0"/>
                <a:ea typeface="Georgia" pitchFamily="34" charset="-122"/>
                <a:cs typeface="Georgia" pitchFamily="34" charset="-120"/>
              </a:rPr>
              <a:t>Humanity's Interplanetary Horizon</a:t>
            </a:r>
            <a:endParaRPr lang="en-US" sz="3400" dirty="0"/>
          </a:p>
        </p:txBody>
      </p:sp>
      <p:sp>
        <p:nvSpPr>
          <p:cNvPr id="4" name="Text 2"/>
          <p:cNvSpPr/>
          <p:nvPr/>
        </p:nvSpPr>
        <p:spPr>
          <a:xfrm>
            <a:off x="658368" y="1554480"/>
            <a:ext cx="10875264" cy="384048"/>
          </a:xfrm>
          <a:prstGeom prst="rect">
            <a:avLst/>
          </a:prstGeom>
          <a:noFill/>
          <a:ln/>
        </p:spPr>
        <p:txBody>
          <a:bodyPr wrap="square" lIns="0" tIns="0" rIns="0" bIns="0" rtlCol="0" anchor="t"/>
          <a:lstStyle/>
          <a:p>
            <a:pPr indent="0" marL="0">
              <a:buNone/>
            </a:pPr>
            <a:r>
              <a:rPr lang="en-US" sz="1800" dirty="0">
                <a:solidFill>
                  <a:srgbClr val="65717D"/>
                </a:solidFill>
                <a:latin typeface="Arial" pitchFamily="34" charset="0"/>
                <a:ea typeface="Arial" pitchFamily="34" charset="-122"/>
                <a:cs typeface="Arial" pitchFamily="34" charset="-120"/>
              </a:rPr>
              <a:t>Translating scientific persistence and technological innovation into an enduring presence</a:t>
            </a:r>
            <a:endParaRPr lang="en-US" sz="1800" dirty="0"/>
          </a:p>
        </p:txBody>
      </p:sp>
      <p:sp>
        <p:nvSpPr>
          <p:cNvPr id="5" name="Shape 3"/>
          <p:cNvSpPr/>
          <p:nvPr/>
        </p:nvSpPr>
        <p:spPr>
          <a:xfrm>
            <a:off x="658368" y="1984248"/>
            <a:ext cx="594360" cy="41148"/>
          </a:xfrm>
          <a:prstGeom prst="rect">
            <a:avLst/>
          </a:prstGeom>
          <a:solidFill>
            <a:srgbClr val="A66A3F"/>
          </a:solidFill>
          <a:ln w="12700">
            <a:solidFill>
              <a:srgbClr val="A66A3F">
                <a:alpha val="0"/>
              </a:srgbClr>
            </a:solidFill>
            <a:prstDash val="solid"/>
          </a:ln>
        </p:spPr>
      </p:sp>
      <p:sp>
        <p:nvSpPr>
          <p:cNvPr id="6" name="Text 4"/>
          <p:cNvSpPr/>
          <p:nvPr/>
        </p:nvSpPr>
        <p:spPr>
          <a:xfrm>
            <a:off x="658368" y="2240280"/>
            <a:ext cx="4617720" cy="3703320"/>
          </a:xfrm>
          <a:prstGeom prst="rect">
            <a:avLst/>
          </a:prstGeom>
          <a:noFill/>
          <a:ln/>
        </p:spPr>
        <p:txBody>
          <a:bodyPr wrap="square" lIns="0" tIns="0" rIns="0" bIns="0" rtlCol="0" anchor="t"/>
          <a:lstStyle/>
          <a:p>
            <a:pPr indent="0" marL="0">
              <a:buNone/>
            </a:pPr>
            <a:r>
              <a:rPr lang="en-US" sz="3200" b="1" dirty="0">
                <a:solidFill>
                  <a:srgbClr val="18212B"/>
                </a:solidFill>
                <a:latin typeface="Georgia" pitchFamily="34" charset="0"/>
                <a:ea typeface="Georgia" pitchFamily="34" charset="-122"/>
                <a:cs typeface="Georgia" pitchFamily="34" charset="-120"/>
              </a:rPr>
              <a:t>Expanding to Mars secures a multi-planetary future and drives scientific innovation.</a:t>
            </a:r>
            <a:endParaRPr lang="en-US" sz="3200" dirty="0"/>
          </a:p>
        </p:txBody>
      </p:sp>
      <p:sp>
        <p:nvSpPr>
          <p:cNvPr id="7" name="Shape 5"/>
          <p:cNvSpPr/>
          <p:nvPr/>
        </p:nvSpPr>
        <p:spPr>
          <a:xfrm>
            <a:off x="5961888" y="2194560"/>
            <a:ext cx="5571744" cy="41148"/>
          </a:xfrm>
          <a:prstGeom prst="rect">
            <a:avLst/>
          </a:prstGeom>
          <a:solidFill>
            <a:srgbClr val="A66A3F"/>
          </a:solidFill>
          <a:ln w="12700">
            <a:solidFill>
              <a:srgbClr val="A66A3F">
                <a:alpha val="0"/>
              </a:srgbClr>
            </a:solidFill>
            <a:prstDash val="solid"/>
          </a:ln>
        </p:spPr>
      </p:sp>
      <p:sp>
        <p:nvSpPr>
          <p:cNvPr id="8" name="Text 6"/>
          <p:cNvSpPr/>
          <p:nvPr/>
        </p:nvSpPr>
        <p:spPr>
          <a:xfrm>
            <a:off x="5961888" y="2331720"/>
            <a:ext cx="5571744" cy="740664"/>
          </a:xfrm>
          <a:prstGeom prst="rect">
            <a:avLst/>
          </a:prstGeom>
          <a:noFill/>
          <a:ln/>
        </p:spPr>
        <p:txBody>
          <a:bodyPr wrap="square" lIns="0" tIns="0" rIns="0" bIns="0" rtlCol="0" anchor="t"/>
          <a:lstStyle/>
          <a:p>
            <a:pPr indent="0" marL="0">
              <a:buNone/>
            </a:pPr>
            <a:r>
              <a:rPr lang="en-US" sz="2200" dirty="0">
                <a:solidFill>
                  <a:srgbClr val="18212B"/>
                </a:solidFill>
                <a:latin typeface="Arial" pitchFamily="34" charset="0"/>
                <a:ea typeface="Arial" pitchFamily="34" charset="-122"/>
                <a:cs typeface="Arial" pitchFamily="34" charset="-120"/>
              </a:rPr>
              <a:t>Drives cross-disciplinary technological innovation</a:t>
            </a:r>
            <a:endParaRPr lang="en-US" sz="2200" dirty="0"/>
          </a:p>
        </p:txBody>
      </p:sp>
      <p:sp>
        <p:nvSpPr>
          <p:cNvPr id="9" name="Shape 7"/>
          <p:cNvSpPr/>
          <p:nvPr/>
        </p:nvSpPr>
        <p:spPr>
          <a:xfrm>
            <a:off x="5961888" y="3154680"/>
            <a:ext cx="5571744" cy="41148"/>
          </a:xfrm>
          <a:prstGeom prst="rect">
            <a:avLst/>
          </a:prstGeom>
          <a:solidFill>
            <a:srgbClr val="A66A3F"/>
          </a:solidFill>
          <a:ln w="12700">
            <a:solidFill>
              <a:srgbClr val="A66A3F">
                <a:alpha val="0"/>
              </a:srgbClr>
            </a:solidFill>
            <a:prstDash val="solid"/>
          </a:ln>
        </p:spPr>
      </p:sp>
      <p:sp>
        <p:nvSpPr>
          <p:cNvPr id="10" name="Text 8"/>
          <p:cNvSpPr/>
          <p:nvPr/>
        </p:nvSpPr>
        <p:spPr>
          <a:xfrm>
            <a:off x="5961888" y="3291840"/>
            <a:ext cx="5571744" cy="740664"/>
          </a:xfrm>
          <a:prstGeom prst="rect">
            <a:avLst/>
          </a:prstGeom>
          <a:noFill/>
          <a:ln/>
        </p:spPr>
        <p:txBody>
          <a:bodyPr wrap="square" lIns="0" tIns="0" rIns="0" bIns="0" rtlCol="0" anchor="t"/>
          <a:lstStyle/>
          <a:p>
            <a:pPr indent="0" marL="0">
              <a:buNone/>
            </a:pPr>
            <a:r>
              <a:rPr lang="en-US" sz="2200" dirty="0">
                <a:solidFill>
                  <a:srgbClr val="18212B"/>
                </a:solidFill>
                <a:latin typeface="Arial" pitchFamily="34" charset="0"/>
                <a:ea typeface="Arial" pitchFamily="34" charset="-122"/>
                <a:cs typeface="Arial" pitchFamily="34" charset="-120"/>
              </a:rPr>
              <a:t>Safeguards human longevity across multiple worlds</a:t>
            </a:r>
            <a:endParaRPr lang="en-US" sz="2200" dirty="0"/>
          </a:p>
        </p:txBody>
      </p:sp>
      <p:sp>
        <p:nvSpPr>
          <p:cNvPr id="11" name="Shape 9"/>
          <p:cNvSpPr/>
          <p:nvPr/>
        </p:nvSpPr>
        <p:spPr>
          <a:xfrm>
            <a:off x="5961888" y="4114800"/>
            <a:ext cx="5571744" cy="41148"/>
          </a:xfrm>
          <a:prstGeom prst="rect">
            <a:avLst/>
          </a:prstGeom>
          <a:solidFill>
            <a:srgbClr val="A66A3F"/>
          </a:solidFill>
          <a:ln w="12700">
            <a:solidFill>
              <a:srgbClr val="A66A3F">
                <a:alpha val="0"/>
              </a:srgbClr>
            </a:solidFill>
            <a:prstDash val="solid"/>
          </a:ln>
        </p:spPr>
      </p:sp>
      <p:sp>
        <p:nvSpPr>
          <p:cNvPr id="12" name="Text 10"/>
          <p:cNvSpPr/>
          <p:nvPr/>
        </p:nvSpPr>
        <p:spPr>
          <a:xfrm>
            <a:off x="5961888" y="4251960"/>
            <a:ext cx="5571744" cy="740664"/>
          </a:xfrm>
          <a:prstGeom prst="rect">
            <a:avLst/>
          </a:prstGeom>
          <a:noFill/>
          <a:ln/>
        </p:spPr>
        <p:txBody>
          <a:bodyPr wrap="square" lIns="0" tIns="0" rIns="0" bIns="0" rtlCol="0" anchor="t"/>
          <a:lstStyle/>
          <a:p>
            <a:pPr indent="0" marL="0">
              <a:buNone/>
            </a:pPr>
            <a:r>
              <a:rPr lang="en-US" sz="2200" dirty="0">
                <a:solidFill>
                  <a:srgbClr val="18212B"/>
                </a:solidFill>
                <a:latin typeface="Arial" pitchFamily="34" charset="0"/>
                <a:ea typeface="Arial" pitchFamily="34" charset="-122"/>
                <a:cs typeface="Arial" pitchFamily="34" charset="-120"/>
              </a:rPr>
              <a:t>Requires sustained international collaboration</a:t>
            </a:r>
            <a:endParaRPr lang="en-US" sz="2200" dirty="0"/>
          </a:p>
        </p:txBody>
      </p:sp>
      <p:sp>
        <p:nvSpPr>
          <p:cNvPr id="13" name="Shape 11"/>
          <p:cNvSpPr/>
          <p:nvPr/>
        </p:nvSpPr>
        <p:spPr>
          <a:xfrm>
            <a:off x="5961888" y="5074920"/>
            <a:ext cx="5571744" cy="41148"/>
          </a:xfrm>
          <a:prstGeom prst="rect">
            <a:avLst/>
          </a:prstGeom>
          <a:solidFill>
            <a:srgbClr val="A66A3F"/>
          </a:solidFill>
          <a:ln w="12700">
            <a:solidFill>
              <a:srgbClr val="A66A3F">
                <a:alpha val="0"/>
              </a:srgbClr>
            </a:solidFill>
            <a:prstDash val="solid"/>
          </a:ln>
        </p:spPr>
      </p:sp>
      <p:sp>
        <p:nvSpPr>
          <p:cNvPr id="14" name="Text 12"/>
          <p:cNvSpPr/>
          <p:nvPr/>
        </p:nvSpPr>
        <p:spPr>
          <a:xfrm>
            <a:off x="5961888" y="5212080"/>
            <a:ext cx="5571744" cy="740664"/>
          </a:xfrm>
          <a:prstGeom prst="rect">
            <a:avLst/>
          </a:prstGeom>
          <a:noFill/>
          <a:ln/>
        </p:spPr>
        <p:txBody>
          <a:bodyPr wrap="square" lIns="0" tIns="0" rIns="0" bIns="0" rtlCol="0" anchor="t"/>
          <a:lstStyle/>
          <a:p>
            <a:pPr indent="0" marL="0">
              <a:buNone/>
            </a:pPr>
            <a:r>
              <a:rPr lang="en-US" sz="2200" dirty="0">
                <a:solidFill>
                  <a:srgbClr val="18212B"/>
                </a:solidFill>
                <a:latin typeface="Arial" pitchFamily="34" charset="0"/>
                <a:ea typeface="Arial" pitchFamily="34" charset="-122"/>
                <a:cs typeface="Arial" pitchFamily="34" charset="-120"/>
              </a:rPr>
              <a:t>Inspires multi-generational scientific progress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Ledify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Future of Space Exploration: From Earth to Mars</dc:title>
  <dc:subject>The Future of Space Exploration: From Earth to Mars</dc:subject>
  <dc:creator>Ledify</dc:creator>
  <cp:lastModifiedBy>Ledify</cp:lastModifiedBy>
  <cp:revision>1</cp:revision>
  <dcterms:created xsi:type="dcterms:W3CDTF">2026-10-19T19:02:27Z</dcterms:created>
  <dcterms:modified xsi:type="dcterms:W3CDTF">2026-10-19T19:02:27Z</dcterms:modified>
</cp:coreProperties>
</file>